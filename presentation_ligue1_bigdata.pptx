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926080"/>
          </a:xfrm>
          <a:prstGeom prst="rect">
            <a:avLst/>
          </a:prstGeom>
          <a:solidFill>
            <a:srgbClr val="0F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880360"/>
            <a:ext cx="12188952" cy="82296"/>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10332720" cy="1005840"/>
          </a:xfrm>
          <a:prstGeom prst="rect">
            <a:avLst/>
          </a:prstGeom>
          <a:noFill/>
        </p:spPr>
        <p:txBody>
          <a:bodyPr wrap="square">
            <a:spAutoFit/>
          </a:bodyPr>
          <a:lstStyle/>
          <a:p>
            <a:pPr algn="ctr"/>
            <a:r>
              <a:rPr sz="4200" b="1" i="0">
                <a:solidFill>
                  <a:srgbClr val="FFFFFF"/>
                </a:solidFill>
              </a:rPr>
              <a:t>Pipeline Big Data – Ligue 1</a:t>
            </a:r>
          </a:p>
        </p:txBody>
      </p:sp>
      <p:sp>
        <p:nvSpPr>
          <p:cNvPr id="6" name="TextBox 5"/>
          <p:cNvSpPr txBox="1"/>
          <p:nvPr/>
        </p:nvSpPr>
        <p:spPr>
          <a:xfrm>
            <a:off x="914400" y="2194560"/>
            <a:ext cx="10332720" cy="548640"/>
          </a:xfrm>
          <a:prstGeom prst="rect">
            <a:avLst/>
          </a:prstGeom>
          <a:noFill/>
        </p:spPr>
        <p:txBody>
          <a:bodyPr wrap="square">
            <a:spAutoFit/>
          </a:bodyPr>
          <a:lstStyle/>
          <a:p>
            <a:pPr algn="ctr"/>
            <a:r>
              <a:rPr sz="2000" b="0" i="0">
                <a:solidFill>
                  <a:srgbClr val="D6E4F7"/>
                </a:solidFill>
              </a:rPr>
              <a:t>Collecte · Streaming · Traitement distribué · Visualisation</a:t>
            </a:r>
          </a:p>
        </p:txBody>
      </p:sp>
      <p:sp>
        <p:nvSpPr>
          <p:cNvPr id="7" name="TextBox 6"/>
          <p:cNvSpPr txBox="1"/>
          <p:nvPr/>
        </p:nvSpPr>
        <p:spPr>
          <a:xfrm>
            <a:off x="914400" y="3657600"/>
            <a:ext cx="10332720" cy="457200"/>
          </a:xfrm>
          <a:prstGeom prst="rect">
            <a:avLst/>
          </a:prstGeom>
          <a:noFill/>
        </p:spPr>
        <p:txBody>
          <a:bodyPr wrap="square">
            <a:spAutoFit/>
          </a:bodyPr>
          <a:lstStyle/>
          <a:p>
            <a:pPr algn="ctr"/>
            <a:r>
              <a:rPr sz="1600" b="0" i="0">
                <a:solidFill>
                  <a:srgbClr val="A0B8D8"/>
                </a:solidFill>
              </a:rPr>
              <a:t>Projet Big Data  ·  2ème année CPI</a:t>
            </a:r>
          </a:p>
        </p:txBody>
      </p:sp>
      <p:sp>
        <p:nvSpPr>
          <p:cNvPr id="8" name="TextBox 7"/>
          <p:cNvSpPr txBox="1"/>
          <p:nvPr/>
        </p:nvSpPr>
        <p:spPr>
          <a:xfrm>
            <a:off x="914400" y="4297680"/>
            <a:ext cx="10332720" cy="457200"/>
          </a:xfrm>
          <a:prstGeom prst="rect">
            <a:avLst/>
          </a:prstGeom>
          <a:noFill/>
        </p:spPr>
        <p:txBody>
          <a:bodyPr wrap="square">
            <a:spAutoFit/>
          </a:bodyPr>
          <a:lstStyle/>
          <a:p>
            <a:pPr algn="ctr"/>
            <a:r>
              <a:rPr sz="1300" b="0" i="1">
                <a:solidFill>
                  <a:srgbClr val="7090B8"/>
                </a:solidFill>
              </a:rPr>
              <a:t>football-data.org  ·  Kafka  ·  Spark  ·  HDFS  ·  PostgreSQL  ·  Streamlit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Contexte &amp; Objectifs</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Pourquoi ce projet et ce qu'il accomplit</a:t>
            </a:r>
          </a:p>
        </p:txBody>
      </p:sp>
      <p:sp>
        <p:nvSpPr>
          <p:cNvPr id="7" name="TextBox 6"/>
          <p:cNvSpPr txBox="1"/>
          <p:nvPr/>
        </p:nvSpPr>
        <p:spPr>
          <a:xfrm>
            <a:off x="457200" y="1554480"/>
            <a:ext cx="11247120" cy="365760"/>
          </a:xfrm>
          <a:prstGeom prst="rect">
            <a:avLst/>
          </a:prstGeom>
          <a:noFill/>
        </p:spPr>
        <p:txBody>
          <a:bodyPr wrap="square">
            <a:spAutoFit/>
          </a:bodyPr>
          <a:lstStyle/>
          <a:p>
            <a:pPr algn="l"/>
            <a:r>
              <a:rPr sz="1600" b="1" i="0">
                <a:solidFill>
                  <a:srgbClr val="2E5F9E"/>
                </a:solidFill>
              </a:rPr>
              <a:t>Problématique</a:t>
            </a:r>
          </a:p>
        </p:txBody>
      </p:sp>
      <p:sp>
        <p:nvSpPr>
          <p:cNvPr id="8" name="TextBox 7"/>
          <p:cNvSpPr txBox="1"/>
          <p:nvPr/>
        </p:nvSpPr>
        <p:spPr>
          <a:xfrm>
            <a:off x="457200" y="1874519"/>
            <a:ext cx="11247120" cy="777240"/>
          </a:xfrm>
          <a:prstGeom prst="rect">
            <a:avLst/>
          </a:prstGeom>
          <a:noFill/>
        </p:spPr>
        <p:txBody>
          <a:bodyPr wrap="square">
            <a:spAutoFit/>
          </a:bodyPr>
          <a:lstStyle/>
          <a:p>
            <a:pPr algn="l"/>
            <a:r>
              <a:rPr sz="1300" b="0" i="0">
                <a:solidFill>
                  <a:srgbClr val="1C1C2E"/>
                </a:solidFill>
              </a:rPr>
              <a:t>Les données de la Ligue 1 sont dispersées entre plusieurs sources (API officielle, sites de statistiques). L'objectif est de construire un pipeline Big Data complet qui les unifie, les traite de façon distribuée et les expose via un tableau de bord interactif.</a:t>
            </a:r>
          </a:p>
        </p:txBody>
      </p:sp>
      <p:sp>
        <p:nvSpPr>
          <p:cNvPr id="9" name="Rectangle 8"/>
          <p:cNvSpPr/>
          <p:nvPr/>
        </p:nvSpPr>
        <p:spPr>
          <a:xfrm>
            <a:off x="457200" y="2788920"/>
            <a:ext cx="3624072" cy="3291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788920"/>
            <a:ext cx="54864" cy="329184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2880360"/>
            <a:ext cx="3441192" cy="347472"/>
          </a:xfrm>
          <a:prstGeom prst="rect">
            <a:avLst/>
          </a:prstGeom>
          <a:noFill/>
        </p:spPr>
        <p:txBody>
          <a:bodyPr wrap="square">
            <a:spAutoFit/>
          </a:bodyPr>
          <a:lstStyle/>
          <a:p>
            <a:pPr algn="l"/>
            <a:r>
              <a:rPr sz="1300" b="1" i="0">
                <a:solidFill>
                  <a:srgbClr val="2E5F9E"/>
                </a:solidFill>
              </a:rPr>
              <a:t>📥  Collecte multi-sources</a:t>
            </a:r>
          </a:p>
        </p:txBody>
      </p:sp>
      <p:sp>
        <p:nvSpPr>
          <p:cNvPr id="12" name="TextBox 11"/>
          <p:cNvSpPr txBox="1"/>
          <p:nvPr/>
        </p:nvSpPr>
        <p:spPr>
          <a:xfrm>
            <a:off x="585216" y="3209544"/>
            <a:ext cx="3441192" cy="2788920"/>
          </a:xfrm>
          <a:prstGeom prst="rect">
            <a:avLst/>
          </a:prstGeom>
          <a:noFill/>
        </p:spPr>
        <p:txBody>
          <a:bodyPr wrap="square">
            <a:spAutoFit/>
          </a:bodyPr>
          <a:lstStyle/>
          <a:p>
            <a:pPr algn="l"/>
            <a:r>
              <a:rPr sz="1100" b="0" i="0">
                <a:solidFill>
                  <a:srgbClr val="1C1C2E"/>
                </a:solidFill>
              </a:rPr>
              <a:t>API football-data.org
Web scraping Transfermarkt
Rate limiting géré (6 s)
~370 messages par cycle</a:t>
            </a:r>
          </a:p>
        </p:txBody>
      </p:sp>
      <p:sp>
        <p:nvSpPr>
          <p:cNvPr id="13" name="Rectangle 12"/>
          <p:cNvSpPr/>
          <p:nvPr/>
        </p:nvSpPr>
        <p:spPr>
          <a:xfrm>
            <a:off x="4282440" y="2788920"/>
            <a:ext cx="3624072" cy="3291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788920"/>
            <a:ext cx="54864" cy="329184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0456" y="2880360"/>
            <a:ext cx="3441192" cy="347472"/>
          </a:xfrm>
          <a:prstGeom prst="rect">
            <a:avLst/>
          </a:prstGeom>
          <a:noFill/>
        </p:spPr>
        <p:txBody>
          <a:bodyPr wrap="square">
            <a:spAutoFit/>
          </a:bodyPr>
          <a:lstStyle/>
          <a:p>
            <a:pPr algn="l"/>
            <a:r>
              <a:rPr sz="1300" b="1" i="0">
                <a:solidFill>
                  <a:srgbClr val="2E5F9E"/>
                </a:solidFill>
              </a:rPr>
              <a:t>⚙️  Traitement distribué</a:t>
            </a:r>
          </a:p>
        </p:txBody>
      </p:sp>
      <p:sp>
        <p:nvSpPr>
          <p:cNvPr id="16" name="TextBox 15"/>
          <p:cNvSpPr txBox="1"/>
          <p:nvPr/>
        </p:nvSpPr>
        <p:spPr>
          <a:xfrm>
            <a:off x="4410456" y="3209544"/>
            <a:ext cx="3441192" cy="2788920"/>
          </a:xfrm>
          <a:prstGeom prst="rect">
            <a:avLst/>
          </a:prstGeom>
          <a:noFill/>
        </p:spPr>
        <p:txBody>
          <a:bodyPr wrap="square">
            <a:spAutoFit/>
          </a:bodyPr>
          <a:lstStyle/>
          <a:p>
            <a:pPr algn="l"/>
            <a:r>
              <a:rPr sz="1100" b="0" i="0">
                <a:solidFill>
                  <a:srgbClr val="1C1C2E"/>
                </a:solidFill>
              </a:rPr>
              <a:t>Streaming via Apache Kafka
Batch ETL avec Apache Spark
Data lake sur HDFS
Entrepôt PostgreSQL</a:t>
            </a:r>
          </a:p>
        </p:txBody>
      </p:sp>
      <p:sp>
        <p:nvSpPr>
          <p:cNvPr id="17" name="Rectangle 16"/>
          <p:cNvSpPr/>
          <p:nvPr/>
        </p:nvSpPr>
        <p:spPr>
          <a:xfrm>
            <a:off x="8107680" y="2788920"/>
            <a:ext cx="3624072" cy="3291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7680" y="2788920"/>
            <a:ext cx="54864" cy="329184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5696" y="2880360"/>
            <a:ext cx="3441192" cy="347472"/>
          </a:xfrm>
          <a:prstGeom prst="rect">
            <a:avLst/>
          </a:prstGeom>
          <a:noFill/>
        </p:spPr>
        <p:txBody>
          <a:bodyPr wrap="square">
            <a:spAutoFit/>
          </a:bodyPr>
          <a:lstStyle/>
          <a:p>
            <a:pPr algn="l"/>
            <a:r>
              <a:rPr sz="1300" b="1" i="0">
                <a:solidFill>
                  <a:srgbClr val="2E5F9E"/>
                </a:solidFill>
              </a:rPr>
              <a:t>📊  Visualisation interactive</a:t>
            </a:r>
          </a:p>
        </p:txBody>
      </p:sp>
      <p:sp>
        <p:nvSpPr>
          <p:cNvPr id="20" name="TextBox 19"/>
          <p:cNvSpPr txBox="1"/>
          <p:nvPr/>
        </p:nvSpPr>
        <p:spPr>
          <a:xfrm>
            <a:off x="8235696" y="3209544"/>
            <a:ext cx="3441192" cy="2788920"/>
          </a:xfrm>
          <a:prstGeom prst="rect">
            <a:avLst/>
          </a:prstGeom>
          <a:noFill/>
        </p:spPr>
        <p:txBody>
          <a:bodyPr wrap="square">
            <a:spAutoFit/>
          </a:bodyPr>
          <a:lstStyle/>
          <a:p>
            <a:pPr algn="l"/>
            <a:r>
              <a:rPr sz="1100" b="0" i="0">
                <a:solidFill>
                  <a:srgbClr val="1C1C2E"/>
                </a:solidFill>
              </a:rPr>
              <a:t>Dashboard Streamlit 4 pages
Classement &amp; KPIs
Comparaison d'équipes
Calendrier &amp; buteurs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Architecture du Pipeline</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Vue d'ensemble des 4 couches</a:t>
            </a:r>
          </a:p>
        </p:txBody>
      </p:sp>
      <p:sp>
        <p:nvSpPr>
          <p:cNvPr id="7" name="Rectangle 6"/>
          <p:cNvSpPr/>
          <p:nvPr/>
        </p:nvSpPr>
        <p:spPr>
          <a:xfrm>
            <a:off x="411480" y="1508760"/>
            <a:ext cx="2560320" cy="123444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856232"/>
            <a:ext cx="2377440" cy="502920"/>
          </a:xfrm>
          <a:prstGeom prst="rect">
            <a:avLst/>
          </a:prstGeom>
          <a:noFill/>
        </p:spPr>
        <p:txBody>
          <a:bodyPr wrap="square">
            <a:spAutoFit/>
          </a:bodyPr>
          <a:lstStyle/>
          <a:p>
            <a:pPr algn="l"/>
            <a:r>
              <a:rPr sz="1700" b="1" i="0">
                <a:solidFill>
                  <a:srgbClr val="FFFFFF"/>
                </a:solidFill>
              </a:rPr>
              <a:t>📥  Ingestion</a:t>
            </a:r>
          </a:p>
        </p:txBody>
      </p:sp>
      <p:sp>
        <p:nvSpPr>
          <p:cNvPr id="9" name="Rectangle 8"/>
          <p:cNvSpPr/>
          <p:nvPr/>
        </p:nvSpPr>
        <p:spPr>
          <a:xfrm>
            <a:off x="2971800" y="1508760"/>
            <a:ext cx="8961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71800" y="1508760"/>
            <a:ext cx="54864" cy="123444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6392" y="1691640"/>
            <a:ext cx="8595360" cy="1005840"/>
          </a:xfrm>
          <a:prstGeom prst="rect">
            <a:avLst/>
          </a:prstGeom>
          <a:noFill/>
        </p:spPr>
        <p:txBody>
          <a:bodyPr wrap="square">
            <a:spAutoFit/>
          </a:bodyPr>
          <a:lstStyle/>
          <a:p>
            <a:pPr algn="l"/>
            <a:r>
              <a:rPr sz="1300" b="0" i="0">
                <a:solidFill>
                  <a:srgbClr val="1C1C2E"/>
                </a:solidFill>
              </a:rPr>
              <a:t>API football-data.org + Scraping Transfermarkt
main.py → api_client.py / scraper.py / transform</a:t>
            </a:r>
          </a:p>
        </p:txBody>
      </p:sp>
      <p:sp>
        <p:nvSpPr>
          <p:cNvPr id="12" name="Rectangle 11"/>
          <p:cNvSpPr/>
          <p:nvPr/>
        </p:nvSpPr>
        <p:spPr>
          <a:xfrm>
            <a:off x="1645920" y="2743200"/>
            <a:ext cx="91440" cy="201168"/>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944368"/>
            <a:ext cx="2560320" cy="1234440"/>
          </a:xfrm>
          <a:prstGeom prst="rect">
            <a:avLst/>
          </a:prstGeom>
          <a:solidFill>
            <a:srgbClr val="6A4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 y="3291840"/>
            <a:ext cx="2377440" cy="502920"/>
          </a:xfrm>
          <a:prstGeom prst="rect">
            <a:avLst/>
          </a:prstGeom>
          <a:noFill/>
        </p:spPr>
        <p:txBody>
          <a:bodyPr wrap="square">
            <a:spAutoFit/>
          </a:bodyPr>
          <a:lstStyle/>
          <a:p>
            <a:pPr algn="l"/>
            <a:r>
              <a:rPr sz="1700" b="1" i="0">
                <a:solidFill>
                  <a:srgbClr val="FFFFFF"/>
                </a:solidFill>
              </a:rPr>
              <a:t>⚡  Streaming</a:t>
            </a:r>
          </a:p>
        </p:txBody>
      </p:sp>
      <p:sp>
        <p:nvSpPr>
          <p:cNvPr id="15" name="Rectangle 14"/>
          <p:cNvSpPr/>
          <p:nvPr/>
        </p:nvSpPr>
        <p:spPr>
          <a:xfrm>
            <a:off x="2971800" y="2944368"/>
            <a:ext cx="8961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71800" y="2944368"/>
            <a:ext cx="54864" cy="1234440"/>
          </a:xfrm>
          <a:prstGeom prst="rect">
            <a:avLst/>
          </a:prstGeom>
          <a:solidFill>
            <a:srgbClr val="6A4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36392" y="3127248"/>
            <a:ext cx="8595360" cy="1005840"/>
          </a:xfrm>
          <a:prstGeom prst="rect">
            <a:avLst/>
          </a:prstGeom>
          <a:noFill/>
        </p:spPr>
        <p:txBody>
          <a:bodyPr wrap="square">
            <a:spAutoFit/>
          </a:bodyPr>
          <a:lstStyle/>
          <a:p>
            <a:pPr algn="l"/>
            <a:r>
              <a:rPr sz="1300" b="0" i="0">
                <a:solidFill>
                  <a:srgbClr val="1C1C2E"/>
                </a:solidFill>
              </a:rPr>
              <a:t>Apache Kafka  ·  topic : etl_topic
~370 messages (JSON) par exécution</a:t>
            </a:r>
          </a:p>
        </p:txBody>
      </p:sp>
      <p:sp>
        <p:nvSpPr>
          <p:cNvPr id="18" name="Rectangle 17"/>
          <p:cNvSpPr/>
          <p:nvPr/>
        </p:nvSpPr>
        <p:spPr>
          <a:xfrm>
            <a:off x="1645920" y="4178808"/>
            <a:ext cx="91440" cy="201168"/>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379976"/>
            <a:ext cx="2560320" cy="1234440"/>
          </a:xfrm>
          <a:prstGeom prst="rect">
            <a:avLst/>
          </a:prstGeom>
          <a:solidFill>
            <a:srgbClr val="1E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 y="4727448"/>
            <a:ext cx="2377440" cy="502920"/>
          </a:xfrm>
          <a:prstGeom prst="rect">
            <a:avLst/>
          </a:prstGeom>
          <a:noFill/>
        </p:spPr>
        <p:txBody>
          <a:bodyPr wrap="square">
            <a:spAutoFit/>
          </a:bodyPr>
          <a:lstStyle/>
          <a:p>
            <a:pPr algn="l"/>
            <a:r>
              <a:rPr sz="1700" b="1" i="0">
                <a:solidFill>
                  <a:srgbClr val="FFFFFF"/>
                </a:solidFill>
              </a:rPr>
              <a:t>⚙️  Traitement</a:t>
            </a:r>
          </a:p>
        </p:txBody>
      </p:sp>
      <p:sp>
        <p:nvSpPr>
          <p:cNvPr id="21" name="Rectangle 20"/>
          <p:cNvSpPr/>
          <p:nvPr/>
        </p:nvSpPr>
        <p:spPr>
          <a:xfrm>
            <a:off x="2971800" y="4379976"/>
            <a:ext cx="8961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71800" y="4379976"/>
            <a:ext cx="54864" cy="1234440"/>
          </a:xfrm>
          <a:prstGeom prst="rect">
            <a:avLst/>
          </a:prstGeom>
          <a:solidFill>
            <a:srgbClr val="1E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36392" y="4562856"/>
            <a:ext cx="8595360" cy="1005840"/>
          </a:xfrm>
          <a:prstGeom prst="rect">
            <a:avLst/>
          </a:prstGeom>
          <a:noFill/>
        </p:spPr>
        <p:txBody>
          <a:bodyPr wrap="square">
            <a:spAutoFit/>
          </a:bodyPr>
          <a:lstStyle/>
          <a:p>
            <a:pPr algn="l"/>
            <a:r>
              <a:rPr sz="1300" b="0" i="0">
                <a:solidFill>
                  <a:srgbClr val="1C1C2E"/>
                </a:solidFill>
              </a:rPr>
              <a:t>Apache Spark 3.5  →  HDFS (Data Lake)
Déduplication + chargement JDBC vers PostgreSQL</a:t>
            </a:r>
          </a:p>
        </p:txBody>
      </p:sp>
      <p:sp>
        <p:nvSpPr>
          <p:cNvPr id="24" name="Rectangle 23"/>
          <p:cNvSpPr/>
          <p:nvPr/>
        </p:nvSpPr>
        <p:spPr>
          <a:xfrm>
            <a:off x="1645920" y="5614416"/>
            <a:ext cx="91440" cy="201168"/>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815584"/>
            <a:ext cx="2560320" cy="1234440"/>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 y="6163056"/>
            <a:ext cx="2377440" cy="502920"/>
          </a:xfrm>
          <a:prstGeom prst="rect">
            <a:avLst/>
          </a:prstGeom>
          <a:noFill/>
        </p:spPr>
        <p:txBody>
          <a:bodyPr wrap="square">
            <a:spAutoFit/>
          </a:bodyPr>
          <a:lstStyle/>
          <a:p>
            <a:pPr algn="l"/>
            <a:r>
              <a:rPr sz="1700" b="1" i="0">
                <a:solidFill>
                  <a:srgbClr val="FFFFFF"/>
                </a:solidFill>
              </a:rPr>
              <a:t>📊  Visualisation</a:t>
            </a:r>
          </a:p>
        </p:txBody>
      </p:sp>
      <p:sp>
        <p:nvSpPr>
          <p:cNvPr id="27" name="Rectangle 26"/>
          <p:cNvSpPr/>
          <p:nvPr/>
        </p:nvSpPr>
        <p:spPr>
          <a:xfrm>
            <a:off x="2971800" y="5815584"/>
            <a:ext cx="896112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71800" y="5815584"/>
            <a:ext cx="54864" cy="1234440"/>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36392" y="5998464"/>
            <a:ext cx="8595360" cy="1005840"/>
          </a:xfrm>
          <a:prstGeom prst="rect">
            <a:avLst/>
          </a:prstGeom>
          <a:noFill/>
        </p:spPr>
        <p:txBody>
          <a:bodyPr wrap="square">
            <a:spAutoFit/>
          </a:bodyPr>
          <a:lstStyle/>
          <a:p>
            <a:pPr algn="l"/>
            <a:r>
              <a:rPr sz="1300" b="0" i="0">
                <a:solidFill>
                  <a:srgbClr val="1C1C2E"/>
                </a:solidFill>
              </a:rPr>
              <a:t>Streamlit + Plotly  ·  localhost:8501
4 pages : Classement · Matchs · Comparaison · Buteurs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Stack Technique</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Les technologies utilisées et leur rôle</a:t>
            </a:r>
          </a:p>
        </p:txBody>
      </p:sp>
      <p:sp>
        <p:nvSpPr>
          <p:cNvPr id="7" name="Rectangle 6"/>
          <p:cNvSpPr/>
          <p:nvPr/>
        </p:nvSpPr>
        <p:spPr>
          <a:xfrm>
            <a:off x="457200" y="150876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2681478" cy="41148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72768"/>
            <a:ext cx="2544318" cy="347472"/>
          </a:xfrm>
          <a:prstGeom prst="rect">
            <a:avLst/>
          </a:prstGeom>
          <a:noFill/>
        </p:spPr>
        <p:txBody>
          <a:bodyPr wrap="square">
            <a:spAutoFit/>
          </a:bodyPr>
          <a:lstStyle/>
          <a:p>
            <a:pPr algn="l"/>
            <a:r>
              <a:rPr sz="1300" b="1" i="0">
                <a:solidFill>
                  <a:srgbClr val="FFFFFF"/>
                </a:solidFill>
              </a:rPr>
              <a:t>Python 3.10+</a:t>
            </a:r>
          </a:p>
        </p:txBody>
      </p:sp>
      <p:sp>
        <p:nvSpPr>
          <p:cNvPr id="10" name="TextBox 9"/>
          <p:cNvSpPr txBox="1"/>
          <p:nvPr/>
        </p:nvSpPr>
        <p:spPr>
          <a:xfrm>
            <a:off x="548640" y="2011680"/>
            <a:ext cx="2544318" cy="1188720"/>
          </a:xfrm>
          <a:prstGeom prst="rect">
            <a:avLst/>
          </a:prstGeom>
          <a:noFill/>
        </p:spPr>
        <p:txBody>
          <a:bodyPr wrap="square">
            <a:spAutoFit/>
          </a:bodyPr>
          <a:lstStyle/>
          <a:p>
            <a:pPr algn="l"/>
            <a:r>
              <a:rPr sz="1200" b="0" i="0">
                <a:solidFill>
                  <a:srgbClr val="1C1C2E"/>
                </a:solidFill>
              </a:rPr>
              <a:t>Langage principal</a:t>
            </a:r>
          </a:p>
        </p:txBody>
      </p:sp>
      <p:sp>
        <p:nvSpPr>
          <p:cNvPr id="11" name="Rectangle 10"/>
          <p:cNvSpPr/>
          <p:nvPr/>
        </p:nvSpPr>
        <p:spPr>
          <a:xfrm>
            <a:off x="3275838" y="150876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75838" y="1508760"/>
            <a:ext cx="2681478" cy="411480"/>
          </a:xfrm>
          <a:prstGeom prst="rect">
            <a:avLst/>
          </a:prstGeom>
          <a:solidFill>
            <a:srgbClr val="6A4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7278" y="1572768"/>
            <a:ext cx="2544318" cy="347472"/>
          </a:xfrm>
          <a:prstGeom prst="rect">
            <a:avLst/>
          </a:prstGeom>
          <a:noFill/>
        </p:spPr>
        <p:txBody>
          <a:bodyPr wrap="square">
            <a:spAutoFit/>
          </a:bodyPr>
          <a:lstStyle/>
          <a:p>
            <a:pPr algn="l"/>
            <a:r>
              <a:rPr sz="1300" b="1" i="0">
                <a:solidFill>
                  <a:srgbClr val="FFFFFF"/>
                </a:solidFill>
              </a:rPr>
              <a:t>Apache Kafka 7.6</a:t>
            </a:r>
          </a:p>
        </p:txBody>
      </p:sp>
      <p:sp>
        <p:nvSpPr>
          <p:cNvPr id="14" name="TextBox 13"/>
          <p:cNvSpPr txBox="1"/>
          <p:nvPr/>
        </p:nvSpPr>
        <p:spPr>
          <a:xfrm>
            <a:off x="3367278" y="2011680"/>
            <a:ext cx="2544318" cy="1188720"/>
          </a:xfrm>
          <a:prstGeom prst="rect">
            <a:avLst/>
          </a:prstGeom>
          <a:noFill/>
        </p:spPr>
        <p:txBody>
          <a:bodyPr wrap="square">
            <a:spAutoFit/>
          </a:bodyPr>
          <a:lstStyle/>
          <a:p>
            <a:pPr algn="l"/>
            <a:r>
              <a:rPr sz="1200" b="0" i="0">
                <a:solidFill>
                  <a:srgbClr val="1C1C2E"/>
                </a:solidFill>
              </a:rPr>
              <a:t>Broker de messages (streaming)</a:t>
            </a:r>
          </a:p>
        </p:txBody>
      </p:sp>
      <p:sp>
        <p:nvSpPr>
          <p:cNvPr id="15" name="Rectangle 14"/>
          <p:cNvSpPr/>
          <p:nvPr/>
        </p:nvSpPr>
        <p:spPr>
          <a:xfrm>
            <a:off x="6094476" y="150876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4476" y="1508760"/>
            <a:ext cx="2681478" cy="411480"/>
          </a:xfrm>
          <a:prstGeom prst="rect">
            <a:avLst/>
          </a:prstGeom>
          <a:solidFill>
            <a:srgbClr val="1E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5916" y="1572768"/>
            <a:ext cx="2544318" cy="347472"/>
          </a:xfrm>
          <a:prstGeom prst="rect">
            <a:avLst/>
          </a:prstGeom>
          <a:noFill/>
        </p:spPr>
        <p:txBody>
          <a:bodyPr wrap="square">
            <a:spAutoFit/>
          </a:bodyPr>
          <a:lstStyle/>
          <a:p>
            <a:pPr algn="l"/>
            <a:r>
              <a:rPr sz="1300" b="1" i="0">
                <a:solidFill>
                  <a:srgbClr val="FFFFFF"/>
                </a:solidFill>
              </a:rPr>
              <a:t>Apache Spark 3.5</a:t>
            </a:r>
          </a:p>
        </p:txBody>
      </p:sp>
      <p:sp>
        <p:nvSpPr>
          <p:cNvPr id="18" name="TextBox 17"/>
          <p:cNvSpPr txBox="1"/>
          <p:nvPr/>
        </p:nvSpPr>
        <p:spPr>
          <a:xfrm>
            <a:off x="6185916" y="2011680"/>
            <a:ext cx="2544318" cy="1188720"/>
          </a:xfrm>
          <a:prstGeom prst="rect">
            <a:avLst/>
          </a:prstGeom>
          <a:noFill/>
        </p:spPr>
        <p:txBody>
          <a:bodyPr wrap="square">
            <a:spAutoFit/>
          </a:bodyPr>
          <a:lstStyle/>
          <a:p>
            <a:pPr algn="l"/>
            <a:r>
              <a:rPr sz="1200" b="0" i="0">
                <a:solidFill>
                  <a:srgbClr val="1C1C2E"/>
                </a:solidFill>
              </a:rPr>
              <a:t>Traitement distribué (batch ETL)</a:t>
            </a:r>
          </a:p>
        </p:txBody>
      </p:sp>
      <p:sp>
        <p:nvSpPr>
          <p:cNvPr id="19" name="Rectangle 18"/>
          <p:cNvSpPr/>
          <p:nvPr/>
        </p:nvSpPr>
        <p:spPr>
          <a:xfrm>
            <a:off x="8913114" y="150876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3114" y="1508760"/>
            <a:ext cx="2681478" cy="4114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4554" y="1572768"/>
            <a:ext cx="2544318" cy="347472"/>
          </a:xfrm>
          <a:prstGeom prst="rect">
            <a:avLst/>
          </a:prstGeom>
          <a:noFill/>
        </p:spPr>
        <p:txBody>
          <a:bodyPr wrap="square">
            <a:spAutoFit/>
          </a:bodyPr>
          <a:lstStyle/>
          <a:p>
            <a:pPr algn="l"/>
            <a:r>
              <a:rPr sz="1300" b="1" i="0">
                <a:solidFill>
                  <a:srgbClr val="FFFFFF"/>
                </a:solidFill>
              </a:rPr>
              <a:t>HDFS / Hadoop 3.2</a:t>
            </a:r>
          </a:p>
        </p:txBody>
      </p:sp>
      <p:sp>
        <p:nvSpPr>
          <p:cNvPr id="22" name="TextBox 21"/>
          <p:cNvSpPr txBox="1"/>
          <p:nvPr/>
        </p:nvSpPr>
        <p:spPr>
          <a:xfrm>
            <a:off x="9004554" y="2011680"/>
            <a:ext cx="2544318" cy="1188720"/>
          </a:xfrm>
          <a:prstGeom prst="rect">
            <a:avLst/>
          </a:prstGeom>
          <a:noFill/>
        </p:spPr>
        <p:txBody>
          <a:bodyPr wrap="square">
            <a:spAutoFit/>
          </a:bodyPr>
          <a:lstStyle/>
          <a:p>
            <a:pPr algn="l"/>
            <a:r>
              <a:rPr sz="1200" b="0" i="0">
                <a:solidFill>
                  <a:srgbClr val="1C1C2E"/>
                </a:solidFill>
              </a:rPr>
              <a:t>Data lake – stockage brut</a:t>
            </a:r>
          </a:p>
        </p:txBody>
      </p:sp>
      <p:sp>
        <p:nvSpPr>
          <p:cNvPr id="23" name="Rectangle 22"/>
          <p:cNvSpPr/>
          <p:nvPr/>
        </p:nvSpPr>
        <p:spPr>
          <a:xfrm>
            <a:off x="457200" y="352044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520440"/>
            <a:ext cx="2681478" cy="411480"/>
          </a:xfrm>
          <a:prstGeom prst="rect">
            <a:avLst/>
          </a:prstGeom>
          <a:solidFill>
            <a:srgbClr val="3365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584448"/>
            <a:ext cx="2544318" cy="347472"/>
          </a:xfrm>
          <a:prstGeom prst="rect">
            <a:avLst/>
          </a:prstGeom>
          <a:noFill/>
        </p:spPr>
        <p:txBody>
          <a:bodyPr wrap="square">
            <a:spAutoFit/>
          </a:bodyPr>
          <a:lstStyle/>
          <a:p>
            <a:pPr algn="l"/>
            <a:r>
              <a:rPr sz="1300" b="1" i="0">
                <a:solidFill>
                  <a:srgbClr val="FFFFFF"/>
                </a:solidFill>
              </a:rPr>
              <a:t>PostgreSQL 16</a:t>
            </a:r>
          </a:p>
        </p:txBody>
      </p:sp>
      <p:sp>
        <p:nvSpPr>
          <p:cNvPr id="26" name="TextBox 25"/>
          <p:cNvSpPr txBox="1"/>
          <p:nvPr/>
        </p:nvSpPr>
        <p:spPr>
          <a:xfrm>
            <a:off x="548640" y="4023360"/>
            <a:ext cx="2544318" cy="1188720"/>
          </a:xfrm>
          <a:prstGeom prst="rect">
            <a:avLst/>
          </a:prstGeom>
          <a:noFill/>
        </p:spPr>
        <p:txBody>
          <a:bodyPr wrap="square">
            <a:spAutoFit/>
          </a:bodyPr>
          <a:lstStyle/>
          <a:p>
            <a:pPr algn="l"/>
            <a:r>
              <a:rPr sz="1200" b="0" i="0">
                <a:solidFill>
                  <a:srgbClr val="1C1C2E"/>
                </a:solidFill>
              </a:rPr>
              <a:t>Entrepôt de données (DW)</a:t>
            </a:r>
          </a:p>
        </p:txBody>
      </p:sp>
      <p:sp>
        <p:nvSpPr>
          <p:cNvPr id="27" name="Rectangle 26"/>
          <p:cNvSpPr/>
          <p:nvPr/>
        </p:nvSpPr>
        <p:spPr>
          <a:xfrm>
            <a:off x="3275838" y="352044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75838" y="3520440"/>
            <a:ext cx="2681478" cy="411480"/>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7278" y="3584448"/>
            <a:ext cx="2544318" cy="347472"/>
          </a:xfrm>
          <a:prstGeom prst="rect">
            <a:avLst/>
          </a:prstGeom>
          <a:noFill/>
        </p:spPr>
        <p:txBody>
          <a:bodyPr wrap="square">
            <a:spAutoFit/>
          </a:bodyPr>
          <a:lstStyle/>
          <a:p>
            <a:pPr algn="l"/>
            <a:r>
              <a:rPr sz="1300" b="1" i="0">
                <a:solidFill>
                  <a:srgbClr val="FFFFFF"/>
                </a:solidFill>
              </a:rPr>
              <a:t>Streamlit + Plotly</a:t>
            </a:r>
          </a:p>
        </p:txBody>
      </p:sp>
      <p:sp>
        <p:nvSpPr>
          <p:cNvPr id="30" name="TextBox 29"/>
          <p:cNvSpPr txBox="1"/>
          <p:nvPr/>
        </p:nvSpPr>
        <p:spPr>
          <a:xfrm>
            <a:off x="3367278" y="4023360"/>
            <a:ext cx="2544318" cy="1188720"/>
          </a:xfrm>
          <a:prstGeom prst="rect">
            <a:avLst/>
          </a:prstGeom>
          <a:noFill/>
        </p:spPr>
        <p:txBody>
          <a:bodyPr wrap="square">
            <a:spAutoFit/>
          </a:bodyPr>
          <a:lstStyle/>
          <a:p>
            <a:pPr algn="l"/>
            <a:r>
              <a:rPr sz="1200" b="0" i="0">
                <a:solidFill>
                  <a:srgbClr val="1C1C2E"/>
                </a:solidFill>
              </a:rPr>
              <a:t>Dashboard interactif</a:t>
            </a:r>
          </a:p>
        </p:txBody>
      </p:sp>
      <p:sp>
        <p:nvSpPr>
          <p:cNvPr id="31" name="Rectangle 30"/>
          <p:cNvSpPr/>
          <p:nvPr/>
        </p:nvSpPr>
        <p:spPr>
          <a:xfrm>
            <a:off x="6094476" y="352044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94476" y="3520440"/>
            <a:ext cx="2681478" cy="411480"/>
          </a:xfrm>
          <a:prstGeom prst="rect">
            <a:avLst/>
          </a:prstGeom>
          <a:solidFill>
            <a:srgbClr val="099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3584448"/>
            <a:ext cx="2544318" cy="347472"/>
          </a:xfrm>
          <a:prstGeom prst="rect">
            <a:avLst/>
          </a:prstGeom>
          <a:noFill/>
        </p:spPr>
        <p:txBody>
          <a:bodyPr wrap="square">
            <a:spAutoFit/>
          </a:bodyPr>
          <a:lstStyle/>
          <a:p>
            <a:pPr algn="l"/>
            <a:r>
              <a:rPr sz="1300" b="1" i="0">
                <a:solidFill>
                  <a:srgbClr val="FFFFFF"/>
                </a:solidFill>
              </a:rPr>
              <a:t>Docker Compose</a:t>
            </a:r>
          </a:p>
        </p:txBody>
      </p:sp>
      <p:sp>
        <p:nvSpPr>
          <p:cNvPr id="34" name="TextBox 33"/>
          <p:cNvSpPr txBox="1"/>
          <p:nvPr/>
        </p:nvSpPr>
        <p:spPr>
          <a:xfrm>
            <a:off x="6185916" y="4023360"/>
            <a:ext cx="2544318" cy="1188720"/>
          </a:xfrm>
          <a:prstGeom prst="rect">
            <a:avLst/>
          </a:prstGeom>
          <a:noFill/>
        </p:spPr>
        <p:txBody>
          <a:bodyPr wrap="square">
            <a:spAutoFit/>
          </a:bodyPr>
          <a:lstStyle/>
          <a:p>
            <a:pPr algn="l"/>
            <a:r>
              <a:rPr sz="1200" b="0" i="0">
                <a:solidFill>
                  <a:srgbClr val="1C1C2E"/>
                </a:solidFill>
              </a:rPr>
              <a:t>Orchestration (7 services)</a:t>
            </a:r>
          </a:p>
        </p:txBody>
      </p:sp>
      <p:sp>
        <p:nvSpPr>
          <p:cNvPr id="35" name="Rectangle 34"/>
          <p:cNvSpPr/>
          <p:nvPr/>
        </p:nvSpPr>
        <p:spPr>
          <a:xfrm>
            <a:off x="8913114" y="3520440"/>
            <a:ext cx="2681478"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13114" y="3520440"/>
            <a:ext cx="2681478" cy="411480"/>
          </a:xfrm>
          <a:prstGeom prst="rect">
            <a:avLst/>
          </a:prstGeom>
          <a:solidFill>
            <a:srgbClr val="8B44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4554" y="3584448"/>
            <a:ext cx="2544318" cy="347472"/>
          </a:xfrm>
          <a:prstGeom prst="rect">
            <a:avLst/>
          </a:prstGeom>
          <a:noFill/>
        </p:spPr>
        <p:txBody>
          <a:bodyPr wrap="square">
            <a:spAutoFit/>
          </a:bodyPr>
          <a:lstStyle/>
          <a:p>
            <a:pPr algn="l"/>
            <a:r>
              <a:rPr sz="1300" b="1" i="0">
                <a:solidFill>
                  <a:srgbClr val="FFFFFF"/>
                </a:solidFill>
              </a:rPr>
              <a:t>BeautifulSoup4</a:t>
            </a:r>
          </a:p>
        </p:txBody>
      </p:sp>
      <p:sp>
        <p:nvSpPr>
          <p:cNvPr id="38" name="TextBox 37"/>
          <p:cNvSpPr txBox="1"/>
          <p:nvPr/>
        </p:nvSpPr>
        <p:spPr>
          <a:xfrm>
            <a:off x="9004554" y="4023360"/>
            <a:ext cx="2544318" cy="1188720"/>
          </a:xfrm>
          <a:prstGeom prst="rect">
            <a:avLst/>
          </a:prstGeom>
          <a:noFill/>
        </p:spPr>
        <p:txBody>
          <a:bodyPr wrap="square">
            <a:spAutoFit/>
          </a:bodyPr>
          <a:lstStyle/>
          <a:p>
            <a:pPr algn="l"/>
            <a:r>
              <a:rPr sz="1200" b="0" i="0">
                <a:solidFill>
                  <a:srgbClr val="1C1C2E"/>
                </a:solidFill>
              </a:rPr>
              <a:t>Web scraping (Transfermarkt)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Données &amp; Schéma de l'Entrepôt</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6 tables relationnelles chargées par Spark via JDBC</a:t>
            </a:r>
          </a:p>
        </p:txBody>
      </p:sp>
      <p:sp>
        <p:nvSpPr>
          <p:cNvPr id="7" name="TextBox 6"/>
          <p:cNvSpPr txBox="1"/>
          <p:nvPr/>
        </p:nvSpPr>
        <p:spPr>
          <a:xfrm>
            <a:off x="457200" y="1508760"/>
            <a:ext cx="5029200" cy="347472"/>
          </a:xfrm>
          <a:prstGeom prst="rect">
            <a:avLst/>
          </a:prstGeom>
          <a:noFill/>
        </p:spPr>
        <p:txBody>
          <a:bodyPr wrap="square">
            <a:spAutoFit/>
          </a:bodyPr>
          <a:lstStyle/>
          <a:p>
            <a:pPr algn="l"/>
            <a:r>
              <a:rPr sz="1400" b="1" i="0">
                <a:solidFill>
                  <a:srgbClr val="2E5F9E"/>
                </a:solidFill>
              </a:rPr>
              <a:t>Sources de données</a:t>
            </a:r>
          </a:p>
        </p:txBody>
      </p:sp>
      <p:sp>
        <p:nvSpPr>
          <p:cNvPr id="8" name="TextBox 7"/>
          <p:cNvSpPr txBox="1"/>
          <p:nvPr/>
        </p:nvSpPr>
        <p:spPr>
          <a:xfrm>
            <a:off x="457200" y="1874519"/>
            <a:ext cx="5029200" cy="4572000"/>
          </a:xfrm>
          <a:prstGeom prst="rect">
            <a:avLst/>
          </a:prstGeom>
          <a:noFill/>
        </p:spPr>
        <p:txBody>
          <a:bodyPr wrap="square">
            <a:spAutoFit/>
          </a:bodyPr>
          <a:lstStyle/>
          <a:p>
            <a:pPr>
              <a:spcBef>
                <a:spcPts val="400"/>
              </a:spcBef>
            </a:pPr>
            <a:r>
              <a:rPr sz="1200" b="1">
                <a:solidFill>
                  <a:srgbClr val="1C1C2E"/>
                </a:solidFill>
              </a:rPr>
              <a:t>▸  football-data.org (API REST)</a:t>
            </a:r>
          </a:p>
          <a:p>
            <a:pPr lvl="1">
              <a:spcBef>
                <a:spcPts val="400"/>
              </a:spcBef>
            </a:pPr>
            <a:r>
              <a:rPr sz="1100" b="0">
                <a:solidFill>
                  <a:srgbClr val="1C1C2E"/>
                </a:solidFill>
              </a:rPr>
              <a:t>    –  Classement Ligue 1 (18 équipes)</a:t>
            </a:r>
          </a:p>
          <a:p>
            <a:pPr lvl="1">
              <a:spcBef>
                <a:spcPts val="400"/>
              </a:spcBef>
            </a:pPr>
            <a:r>
              <a:rPr sz="1100" b="0">
                <a:solidFill>
                  <a:srgbClr val="1C1C2E"/>
                </a:solidFill>
              </a:rPr>
              <a:t>    –  Matchs (~306 rencontres)</a:t>
            </a:r>
          </a:p>
          <a:p>
            <a:pPr lvl="1">
              <a:spcBef>
                <a:spcPts val="400"/>
              </a:spcBef>
            </a:pPr>
            <a:r>
              <a:rPr sz="1100" b="0">
                <a:solidFill>
                  <a:srgbClr val="1C1C2E"/>
                </a:solidFill>
              </a:rPr>
              <a:t>    –  Top 10 buteurs</a:t>
            </a:r>
          </a:p>
          <a:p>
            <a:pPr>
              <a:spcBef>
                <a:spcPts val="400"/>
              </a:spcBef>
            </a:pPr>
            <a:r>
              <a:rPr sz="1200" b="1">
                <a:solidFill>
                  <a:srgbClr val="1C1C2E"/>
                </a:solidFill>
              </a:rPr>
              <a:t>▸  Transfermarkt (scraping)</a:t>
            </a:r>
          </a:p>
          <a:p>
            <a:pPr lvl="1">
              <a:spcBef>
                <a:spcPts val="400"/>
              </a:spcBef>
            </a:pPr>
            <a:r>
              <a:rPr sz="1100" b="0">
                <a:solidFill>
                  <a:srgbClr val="1C1C2E"/>
                </a:solidFill>
              </a:rPr>
              <a:t>    –  Valeur marchande des effectifs</a:t>
            </a:r>
          </a:p>
          <a:p>
            <a:pPr lvl="1">
              <a:spcBef>
                <a:spcPts val="400"/>
              </a:spcBef>
            </a:pPr>
            <a:r>
              <a:rPr sz="1100" b="0">
                <a:solidFill>
                  <a:srgbClr val="1C1C2E"/>
                </a:solidFill>
              </a:rPr>
              <a:t>    –  Taille de l'effectif, âge moyen</a:t>
            </a:r>
          </a:p>
        </p:txBody>
      </p:sp>
      <p:sp>
        <p:nvSpPr>
          <p:cNvPr id="9" name="TextBox 8"/>
          <p:cNvSpPr txBox="1"/>
          <p:nvPr/>
        </p:nvSpPr>
        <p:spPr>
          <a:xfrm>
            <a:off x="5669280" y="1508760"/>
            <a:ext cx="5943600" cy="347472"/>
          </a:xfrm>
          <a:prstGeom prst="rect">
            <a:avLst/>
          </a:prstGeom>
          <a:noFill/>
        </p:spPr>
        <p:txBody>
          <a:bodyPr wrap="square">
            <a:spAutoFit/>
          </a:bodyPr>
          <a:lstStyle/>
          <a:p>
            <a:pPr algn="l"/>
            <a:r>
              <a:rPr sz="1400" b="1" i="0">
                <a:solidFill>
                  <a:srgbClr val="2E5F9E"/>
                </a:solidFill>
              </a:rPr>
              <a:t>Schéma relationnel (PostgreSQL)</a:t>
            </a:r>
          </a:p>
        </p:txBody>
      </p:sp>
      <p:sp>
        <p:nvSpPr>
          <p:cNvPr id="10" name="TextBox 9"/>
          <p:cNvSpPr txBox="1"/>
          <p:nvPr/>
        </p:nvSpPr>
        <p:spPr>
          <a:xfrm>
            <a:off x="5669280" y="1874519"/>
            <a:ext cx="5943600" cy="4572000"/>
          </a:xfrm>
          <a:prstGeom prst="rect">
            <a:avLst/>
          </a:prstGeom>
          <a:noFill/>
        </p:spPr>
        <p:txBody>
          <a:bodyPr wrap="square">
            <a:spAutoFit/>
          </a:bodyPr>
          <a:lstStyle/>
          <a:p>
            <a:pPr>
              <a:spcBef>
                <a:spcPts val="400"/>
              </a:spcBef>
            </a:pPr>
            <a:r>
              <a:rPr sz="1200" b="1">
                <a:solidFill>
                  <a:srgbClr val="1C1C2E"/>
                </a:solidFill>
              </a:rPr>
              <a:t>▸  competitions  (1 ligne – Ligue 1)</a:t>
            </a:r>
          </a:p>
          <a:p>
            <a:pPr lvl="1">
              <a:spcBef>
                <a:spcPts val="400"/>
              </a:spcBef>
            </a:pPr>
            <a:r>
              <a:rPr sz="1100" b="0">
                <a:solidFill>
                  <a:srgbClr val="1C1C2E"/>
                </a:solidFill>
              </a:rPr>
              <a:t>    –  teams  (18 clubs)</a:t>
            </a:r>
          </a:p>
          <a:p>
            <a:pPr lvl="1">
              <a:spcBef>
                <a:spcPts val="400"/>
              </a:spcBef>
            </a:pPr>
            <a:r>
              <a:rPr sz="1100" b="0">
                <a:solidFill>
                  <a:srgbClr val="1C1C2E"/>
                </a:solidFill>
              </a:rPr>
              <a:t>    –  standings  (classement, 18 lignes)</a:t>
            </a:r>
          </a:p>
          <a:p>
            <a:pPr lvl="1">
              <a:spcBef>
                <a:spcPts val="400"/>
              </a:spcBef>
            </a:pPr>
            <a:r>
              <a:rPr sz="1100" b="0">
                <a:solidFill>
                  <a:srgbClr val="1C1C2E"/>
                </a:solidFill>
              </a:rPr>
              <a:t>    –  matches  (~306 matchs)</a:t>
            </a:r>
          </a:p>
          <a:p>
            <a:pPr lvl="1">
              <a:spcBef>
                <a:spcPts val="400"/>
              </a:spcBef>
            </a:pPr>
            <a:r>
              <a:rPr sz="1100" b="0">
                <a:solidFill>
                  <a:srgbClr val="1C1C2E"/>
                </a:solidFill>
              </a:rPr>
              <a:t>    –  scorers  (top 10 joueurs)</a:t>
            </a:r>
          </a:p>
          <a:p>
            <a:pPr lvl="1">
              <a:spcBef>
                <a:spcPts val="400"/>
              </a:spcBef>
            </a:pPr>
            <a:r>
              <a:rPr sz="1100" b="0">
                <a:solidFill>
                  <a:srgbClr val="1C1C2E"/>
                </a:solidFill>
              </a:rPr>
              <a:t>    –  team_stats_scraped  (valeurs Transfermarkt)</a:t>
            </a:r>
          </a:p>
        </p:txBody>
      </p:sp>
      <p:sp>
        <p:nvSpPr>
          <p:cNvPr id="11" name="Rectangle 10"/>
          <p:cNvSpPr/>
          <p:nvPr/>
        </p:nvSpPr>
        <p:spPr>
          <a:xfrm>
            <a:off x="457200" y="4937760"/>
            <a:ext cx="11247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937760"/>
            <a:ext cx="11274552" cy="54864"/>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074920"/>
            <a:ext cx="2254910" cy="594360"/>
          </a:xfrm>
          <a:prstGeom prst="rect">
            <a:avLst/>
          </a:prstGeom>
          <a:noFill/>
        </p:spPr>
        <p:txBody>
          <a:bodyPr wrap="square">
            <a:spAutoFit/>
          </a:bodyPr>
          <a:lstStyle/>
          <a:p>
            <a:pPr algn="ctr"/>
            <a:r>
              <a:rPr sz="2600" b="1" i="0">
                <a:solidFill>
                  <a:srgbClr val="2E5F9E"/>
                </a:solidFill>
              </a:rPr>
              <a:t>~370</a:t>
            </a:r>
          </a:p>
        </p:txBody>
      </p:sp>
      <p:sp>
        <p:nvSpPr>
          <p:cNvPr id="14" name="TextBox 13"/>
          <p:cNvSpPr txBox="1"/>
          <p:nvPr/>
        </p:nvSpPr>
        <p:spPr>
          <a:xfrm>
            <a:off x="457200" y="5623560"/>
            <a:ext cx="2254910" cy="640080"/>
          </a:xfrm>
          <a:prstGeom prst="rect">
            <a:avLst/>
          </a:prstGeom>
          <a:noFill/>
        </p:spPr>
        <p:txBody>
          <a:bodyPr wrap="square">
            <a:spAutoFit/>
          </a:bodyPr>
          <a:lstStyle/>
          <a:p>
            <a:pPr algn="ctr"/>
            <a:r>
              <a:rPr sz="1100" b="0" i="0">
                <a:solidFill>
                  <a:srgbClr val="444466"/>
                </a:solidFill>
              </a:rPr>
              <a:t>messages Kafka
par cycle</a:t>
            </a:r>
          </a:p>
        </p:txBody>
      </p:sp>
      <p:sp>
        <p:nvSpPr>
          <p:cNvPr id="15" name="TextBox 14"/>
          <p:cNvSpPr txBox="1"/>
          <p:nvPr/>
        </p:nvSpPr>
        <p:spPr>
          <a:xfrm>
            <a:off x="2712110" y="5074920"/>
            <a:ext cx="2254910" cy="594360"/>
          </a:xfrm>
          <a:prstGeom prst="rect">
            <a:avLst/>
          </a:prstGeom>
          <a:noFill/>
        </p:spPr>
        <p:txBody>
          <a:bodyPr wrap="square">
            <a:spAutoFit/>
          </a:bodyPr>
          <a:lstStyle/>
          <a:p>
            <a:pPr algn="ctr"/>
            <a:r>
              <a:rPr sz="2600" b="1" i="0">
                <a:solidFill>
                  <a:srgbClr val="2E5F9E"/>
                </a:solidFill>
              </a:rPr>
              <a:t>6</a:t>
            </a:r>
          </a:p>
        </p:txBody>
      </p:sp>
      <p:sp>
        <p:nvSpPr>
          <p:cNvPr id="16" name="TextBox 15"/>
          <p:cNvSpPr txBox="1"/>
          <p:nvPr/>
        </p:nvSpPr>
        <p:spPr>
          <a:xfrm>
            <a:off x="2712110" y="5623560"/>
            <a:ext cx="2254910" cy="640080"/>
          </a:xfrm>
          <a:prstGeom prst="rect">
            <a:avLst/>
          </a:prstGeom>
          <a:noFill/>
        </p:spPr>
        <p:txBody>
          <a:bodyPr wrap="square">
            <a:spAutoFit/>
          </a:bodyPr>
          <a:lstStyle/>
          <a:p>
            <a:pPr algn="ctr"/>
            <a:r>
              <a:rPr sz="1100" b="0" i="0">
                <a:solidFill>
                  <a:srgbClr val="444466"/>
                </a:solidFill>
              </a:rPr>
              <a:t>tables
PostgreSQL</a:t>
            </a:r>
          </a:p>
        </p:txBody>
      </p:sp>
      <p:sp>
        <p:nvSpPr>
          <p:cNvPr id="17" name="TextBox 16"/>
          <p:cNvSpPr txBox="1"/>
          <p:nvPr/>
        </p:nvSpPr>
        <p:spPr>
          <a:xfrm>
            <a:off x="4967020" y="5074920"/>
            <a:ext cx="2254910" cy="594360"/>
          </a:xfrm>
          <a:prstGeom prst="rect">
            <a:avLst/>
          </a:prstGeom>
          <a:noFill/>
        </p:spPr>
        <p:txBody>
          <a:bodyPr wrap="square">
            <a:spAutoFit/>
          </a:bodyPr>
          <a:lstStyle/>
          <a:p>
            <a:pPr algn="ctr"/>
            <a:r>
              <a:rPr sz="2600" b="1" i="0">
                <a:solidFill>
                  <a:srgbClr val="2E5F9E"/>
                </a:solidFill>
              </a:rPr>
              <a:t>18</a:t>
            </a:r>
          </a:p>
        </p:txBody>
      </p:sp>
      <p:sp>
        <p:nvSpPr>
          <p:cNvPr id="18" name="TextBox 17"/>
          <p:cNvSpPr txBox="1"/>
          <p:nvPr/>
        </p:nvSpPr>
        <p:spPr>
          <a:xfrm>
            <a:off x="4967020" y="5623560"/>
            <a:ext cx="2254910" cy="640080"/>
          </a:xfrm>
          <a:prstGeom prst="rect">
            <a:avLst/>
          </a:prstGeom>
          <a:noFill/>
        </p:spPr>
        <p:txBody>
          <a:bodyPr wrap="square">
            <a:spAutoFit/>
          </a:bodyPr>
          <a:lstStyle/>
          <a:p>
            <a:pPr algn="ctr"/>
            <a:r>
              <a:rPr sz="1100" b="0" i="0">
                <a:solidFill>
                  <a:srgbClr val="444466"/>
                </a:solidFill>
              </a:rPr>
              <a:t>équipes
Ligue 1</a:t>
            </a:r>
          </a:p>
        </p:txBody>
      </p:sp>
      <p:sp>
        <p:nvSpPr>
          <p:cNvPr id="19" name="TextBox 18"/>
          <p:cNvSpPr txBox="1"/>
          <p:nvPr/>
        </p:nvSpPr>
        <p:spPr>
          <a:xfrm>
            <a:off x="7221931" y="5074920"/>
            <a:ext cx="2254910" cy="594360"/>
          </a:xfrm>
          <a:prstGeom prst="rect">
            <a:avLst/>
          </a:prstGeom>
          <a:noFill/>
        </p:spPr>
        <p:txBody>
          <a:bodyPr wrap="square">
            <a:spAutoFit/>
          </a:bodyPr>
          <a:lstStyle/>
          <a:p>
            <a:pPr algn="ctr"/>
            <a:r>
              <a:rPr sz="2600" b="1" i="0">
                <a:solidFill>
                  <a:srgbClr val="2E5F9E"/>
                </a:solidFill>
              </a:rPr>
              <a:t>306</a:t>
            </a:r>
          </a:p>
        </p:txBody>
      </p:sp>
      <p:sp>
        <p:nvSpPr>
          <p:cNvPr id="20" name="TextBox 19"/>
          <p:cNvSpPr txBox="1"/>
          <p:nvPr/>
        </p:nvSpPr>
        <p:spPr>
          <a:xfrm>
            <a:off x="7221931" y="5623560"/>
            <a:ext cx="2254910" cy="640080"/>
          </a:xfrm>
          <a:prstGeom prst="rect">
            <a:avLst/>
          </a:prstGeom>
          <a:noFill/>
        </p:spPr>
        <p:txBody>
          <a:bodyPr wrap="square">
            <a:spAutoFit/>
          </a:bodyPr>
          <a:lstStyle/>
          <a:p>
            <a:pPr algn="ctr"/>
            <a:r>
              <a:rPr sz="1100" b="0" i="0">
                <a:solidFill>
                  <a:srgbClr val="444466"/>
                </a:solidFill>
              </a:rPr>
              <a:t>matchs
en base</a:t>
            </a:r>
          </a:p>
        </p:txBody>
      </p:sp>
      <p:sp>
        <p:nvSpPr>
          <p:cNvPr id="21" name="TextBox 20"/>
          <p:cNvSpPr txBox="1"/>
          <p:nvPr/>
        </p:nvSpPr>
        <p:spPr>
          <a:xfrm>
            <a:off x="9476841" y="5074920"/>
            <a:ext cx="2254910" cy="594360"/>
          </a:xfrm>
          <a:prstGeom prst="rect">
            <a:avLst/>
          </a:prstGeom>
          <a:noFill/>
        </p:spPr>
        <p:txBody>
          <a:bodyPr wrap="square">
            <a:spAutoFit/>
          </a:bodyPr>
          <a:lstStyle/>
          <a:p>
            <a:pPr algn="ctr"/>
            <a:r>
              <a:rPr sz="2600" b="1" i="0">
                <a:solidFill>
                  <a:srgbClr val="2E5F9E"/>
                </a:solidFill>
              </a:rPr>
              <a:t>6 s</a:t>
            </a:r>
          </a:p>
        </p:txBody>
      </p:sp>
      <p:sp>
        <p:nvSpPr>
          <p:cNvPr id="22" name="TextBox 21"/>
          <p:cNvSpPr txBox="1"/>
          <p:nvPr/>
        </p:nvSpPr>
        <p:spPr>
          <a:xfrm>
            <a:off x="9476841" y="5623560"/>
            <a:ext cx="2254910" cy="640080"/>
          </a:xfrm>
          <a:prstGeom prst="rect">
            <a:avLst/>
          </a:prstGeom>
          <a:noFill/>
        </p:spPr>
        <p:txBody>
          <a:bodyPr wrap="square">
            <a:spAutoFit/>
          </a:bodyPr>
          <a:lstStyle/>
          <a:p>
            <a:pPr algn="ctr"/>
            <a:r>
              <a:rPr sz="1100" b="0" i="0">
                <a:solidFill>
                  <a:srgbClr val="444466"/>
                </a:solidFill>
              </a:rPr>
              <a:t>délai API
(rate limit)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Dashboard Streamlit</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4 pages d'analyse interactive de la Ligue 1</a:t>
            </a:r>
          </a:p>
        </p:txBody>
      </p:sp>
      <p:sp>
        <p:nvSpPr>
          <p:cNvPr id="7" name="Rectangle 6"/>
          <p:cNvSpPr/>
          <p:nvPr/>
        </p:nvSpPr>
        <p:spPr>
          <a:xfrm>
            <a:off x="457200" y="1508760"/>
            <a:ext cx="2715768"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2715768" cy="50292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91056"/>
            <a:ext cx="2578608" cy="384048"/>
          </a:xfrm>
          <a:prstGeom prst="rect">
            <a:avLst/>
          </a:prstGeom>
          <a:noFill/>
        </p:spPr>
        <p:txBody>
          <a:bodyPr wrap="square">
            <a:spAutoFit/>
          </a:bodyPr>
          <a:lstStyle/>
          <a:p>
            <a:pPr algn="l"/>
            <a:r>
              <a:rPr sz="1200" b="1" i="0">
                <a:solidFill>
                  <a:srgbClr val="FFFFFF"/>
                </a:solidFill>
              </a:rPr>
              <a:t>🏆  Classement</a:t>
            </a:r>
          </a:p>
        </p:txBody>
      </p:sp>
      <p:sp>
        <p:nvSpPr>
          <p:cNvPr id="10" name="TextBox 9"/>
          <p:cNvSpPr txBox="1"/>
          <p:nvPr/>
        </p:nvSpPr>
        <p:spPr>
          <a:xfrm>
            <a:off x="530352" y="2103120"/>
            <a:ext cx="2578608" cy="4572000"/>
          </a:xfrm>
          <a:prstGeom prst="rect">
            <a:avLst/>
          </a:prstGeom>
          <a:noFill/>
        </p:spPr>
        <p:txBody>
          <a:bodyPr wrap="square">
            <a:spAutoFit/>
          </a:bodyPr>
          <a:lstStyle/>
          <a:p>
            <a:pPr>
              <a:spcBef>
                <a:spcPts val="400"/>
              </a:spcBef>
            </a:pPr>
            <a:r>
              <a:rPr sz="1050" b="1">
                <a:solidFill>
                  <a:srgbClr val="1C1C2E"/>
                </a:solidFill>
              </a:rPr>
              <a:t>▸  Tableau de classement coloré</a:t>
            </a:r>
          </a:p>
          <a:p>
            <a:pPr>
              <a:spcBef>
                <a:spcPts val="400"/>
              </a:spcBef>
            </a:pPr>
            <a:r>
              <a:rPr sz="1050" b="1">
                <a:solidFill>
                  <a:srgbClr val="1C1C2E"/>
                </a:solidFill>
              </a:rPr>
              <a:t>▸  Zones CL / Relégation</a:t>
            </a:r>
          </a:p>
          <a:p>
            <a:pPr>
              <a:spcBef>
                <a:spcPts val="400"/>
              </a:spcBef>
            </a:pPr>
            <a:r>
              <a:rPr sz="1050" b="1">
                <a:solidFill>
                  <a:srgbClr val="1C1C2E"/>
                </a:solidFill>
              </a:rPr>
              <a:t>▸  4 KPIs (leader, attaque, défense, buteur)</a:t>
            </a:r>
          </a:p>
          <a:p>
            <a:pPr>
              <a:spcBef>
                <a:spcPts val="400"/>
              </a:spcBef>
            </a:pPr>
            <a:r>
              <a:rPr sz="1050" b="1">
                <a:solidFill>
                  <a:srgbClr val="1C1C2E"/>
                </a:solidFill>
              </a:rPr>
              <a:t>▸  Bar chart : buts par équipe</a:t>
            </a:r>
          </a:p>
          <a:p>
            <a:pPr>
              <a:spcBef>
                <a:spcPts val="400"/>
              </a:spcBef>
            </a:pPr>
            <a:r>
              <a:rPr sz="1050" b="1">
                <a:solidFill>
                  <a:srgbClr val="1C1C2E"/>
                </a:solidFill>
              </a:rPr>
              <a:t>▸  Scatter : points vs valeur marchande</a:t>
            </a:r>
          </a:p>
        </p:txBody>
      </p:sp>
      <p:sp>
        <p:nvSpPr>
          <p:cNvPr id="11" name="Rectangle 10"/>
          <p:cNvSpPr/>
          <p:nvPr/>
        </p:nvSpPr>
        <p:spPr>
          <a:xfrm>
            <a:off x="3310128" y="1508760"/>
            <a:ext cx="2715768"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0128" y="1508760"/>
            <a:ext cx="2715768" cy="502920"/>
          </a:xfrm>
          <a:prstGeom prst="rect">
            <a:avLst/>
          </a:prstGeom>
          <a:solidFill>
            <a:srgbClr val="1E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591056"/>
            <a:ext cx="2578608" cy="384048"/>
          </a:xfrm>
          <a:prstGeom prst="rect">
            <a:avLst/>
          </a:prstGeom>
          <a:noFill/>
        </p:spPr>
        <p:txBody>
          <a:bodyPr wrap="square">
            <a:spAutoFit/>
          </a:bodyPr>
          <a:lstStyle/>
          <a:p>
            <a:pPr algn="l"/>
            <a:r>
              <a:rPr sz="1200" b="1" i="0">
                <a:solidFill>
                  <a:srgbClr val="FFFFFF"/>
                </a:solidFill>
              </a:rPr>
              <a:t>📅  Matchs</a:t>
            </a:r>
          </a:p>
        </p:txBody>
      </p:sp>
      <p:sp>
        <p:nvSpPr>
          <p:cNvPr id="14" name="TextBox 13"/>
          <p:cNvSpPr txBox="1"/>
          <p:nvPr/>
        </p:nvSpPr>
        <p:spPr>
          <a:xfrm>
            <a:off x="3383280" y="2103120"/>
            <a:ext cx="2578608" cy="4572000"/>
          </a:xfrm>
          <a:prstGeom prst="rect">
            <a:avLst/>
          </a:prstGeom>
          <a:noFill/>
        </p:spPr>
        <p:txBody>
          <a:bodyPr wrap="square">
            <a:spAutoFit/>
          </a:bodyPr>
          <a:lstStyle/>
          <a:p>
            <a:pPr>
              <a:spcBef>
                <a:spcPts val="400"/>
              </a:spcBef>
            </a:pPr>
            <a:r>
              <a:rPr sz="1050" b="1">
                <a:solidFill>
                  <a:srgbClr val="1C1C2E"/>
                </a:solidFill>
              </a:rPr>
              <a:t>▸  Sélecteur de journée (1–38)</a:t>
            </a:r>
          </a:p>
          <a:p>
            <a:pPr>
              <a:spcBef>
                <a:spcPts val="400"/>
              </a:spcBef>
            </a:pPr>
            <a:r>
              <a:rPr sz="1050" b="1">
                <a:solidFill>
                  <a:srgbClr val="1C1C2E"/>
                </a:solidFill>
              </a:rPr>
              <a:t>▸  Résultats avec gagnants en gras</a:t>
            </a:r>
          </a:p>
          <a:p>
            <a:pPr>
              <a:spcBef>
                <a:spcPts val="400"/>
              </a:spcBef>
            </a:pPr>
            <a:r>
              <a:rPr sz="1050" b="1">
                <a:solidFill>
                  <a:srgbClr val="1C1C2E"/>
                </a:solidFill>
              </a:rPr>
              <a:t>▸  Calendrier des prochains matchs</a:t>
            </a:r>
          </a:p>
          <a:p>
            <a:pPr>
              <a:spcBef>
                <a:spcPts val="400"/>
              </a:spcBef>
            </a:pPr>
            <a:r>
              <a:rPr sz="1050" b="1">
                <a:solidFill>
                  <a:srgbClr val="1C1C2E"/>
                </a:solidFill>
              </a:rPr>
              <a:t>▸  Tableau complet de la saison</a:t>
            </a:r>
          </a:p>
        </p:txBody>
      </p:sp>
      <p:sp>
        <p:nvSpPr>
          <p:cNvPr id="15" name="Rectangle 14"/>
          <p:cNvSpPr/>
          <p:nvPr/>
        </p:nvSpPr>
        <p:spPr>
          <a:xfrm>
            <a:off x="6163056" y="1508760"/>
            <a:ext cx="2715768"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508760"/>
            <a:ext cx="2715768" cy="502920"/>
          </a:xfrm>
          <a:prstGeom prst="rect">
            <a:avLst/>
          </a:prstGeom>
          <a:solidFill>
            <a:srgbClr val="6A4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1591056"/>
            <a:ext cx="2578608" cy="384048"/>
          </a:xfrm>
          <a:prstGeom prst="rect">
            <a:avLst/>
          </a:prstGeom>
          <a:noFill/>
        </p:spPr>
        <p:txBody>
          <a:bodyPr wrap="square">
            <a:spAutoFit/>
          </a:bodyPr>
          <a:lstStyle/>
          <a:p>
            <a:pPr algn="l"/>
            <a:r>
              <a:rPr sz="1200" b="1" i="0">
                <a:solidFill>
                  <a:srgbClr val="FFFFFF"/>
                </a:solidFill>
              </a:rPr>
              <a:t>🔍  Comparaison</a:t>
            </a:r>
          </a:p>
        </p:txBody>
      </p:sp>
      <p:sp>
        <p:nvSpPr>
          <p:cNvPr id="18" name="TextBox 17"/>
          <p:cNvSpPr txBox="1"/>
          <p:nvPr/>
        </p:nvSpPr>
        <p:spPr>
          <a:xfrm>
            <a:off x="6236208" y="2103120"/>
            <a:ext cx="2578608" cy="4572000"/>
          </a:xfrm>
          <a:prstGeom prst="rect">
            <a:avLst/>
          </a:prstGeom>
          <a:noFill/>
        </p:spPr>
        <p:txBody>
          <a:bodyPr wrap="square">
            <a:spAutoFit/>
          </a:bodyPr>
          <a:lstStyle/>
          <a:p>
            <a:pPr>
              <a:spcBef>
                <a:spcPts val="400"/>
              </a:spcBef>
            </a:pPr>
            <a:r>
              <a:rPr sz="1050" b="1">
                <a:solidFill>
                  <a:srgbClr val="1C1C2E"/>
                </a:solidFill>
              </a:rPr>
              <a:t>▸  Sélection de 2 équipes</a:t>
            </a:r>
          </a:p>
          <a:p>
            <a:pPr>
              <a:spcBef>
                <a:spcPts val="400"/>
              </a:spcBef>
            </a:pPr>
            <a:r>
              <a:rPr sz="1050" b="1">
                <a:solidFill>
                  <a:srgbClr val="1C1C2E"/>
                </a:solidFill>
              </a:rPr>
              <a:t>▸  Métriques côte à côte</a:t>
            </a:r>
          </a:p>
          <a:p>
            <a:pPr>
              <a:spcBef>
                <a:spcPts val="400"/>
              </a:spcBef>
            </a:pPr>
            <a:r>
              <a:rPr sz="1050" b="1">
                <a:solidFill>
                  <a:srgbClr val="1C1C2E"/>
                </a:solidFill>
              </a:rPr>
              <a:t>▸  Radar chart (5 dimensions)</a:t>
            </a:r>
          </a:p>
          <a:p>
            <a:pPr>
              <a:spcBef>
                <a:spcPts val="400"/>
              </a:spcBef>
            </a:pPr>
            <a:r>
              <a:rPr sz="1050" b="1">
                <a:solidFill>
                  <a:srgbClr val="1C1C2E"/>
                </a:solidFill>
              </a:rPr>
              <a:t>▸  Bilan tête-à-tête</a:t>
            </a:r>
          </a:p>
        </p:txBody>
      </p:sp>
      <p:sp>
        <p:nvSpPr>
          <p:cNvPr id="19" name="Rectangle 18"/>
          <p:cNvSpPr/>
          <p:nvPr/>
        </p:nvSpPr>
        <p:spPr>
          <a:xfrm>
            <a:off x="9015984" y="1508760"/>
            <a:ext cx="2715768"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1508760"/>
            <a:ext cx="2715768" cy="502920"/>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591056"/>
            <a:ext cx="2578608" cy="384048"/>
          </a:xfrm>
          <a:prstGeom prst="rect">
            <a:avLst/>
          </a:prstGeom>
          <a:noFill/>
        </p:spPr>
        <p:txBody>
          <a:bodyPr wrap="square">
            <a:spAutoFit/>
          </a:bodyPr>
          <a:lstStyle/>
          <a:p>
            <a:pPr algn="l"/>
            <a:r>
              <a:rPr sz="1200" b="1" i="0">
                <a:solidFill>
                  <a:srgbClr val="FFFFFF"/>
                </a:solidFill>
              </a:rPr>
              <a:t>👟  Buteurs</a:t>
            </a:r>
          </a:p>
        </p:txBody>
      </p:sp>
      <p:sp>
        <p:nvSpPr>
          <p:cNvPr id="22" name="TextBox 21"/>
          <p:cNvSpPr txBox="1"/>
          <p:nvPr/>
        </p:nvSpPr>
        <p:spPr>
          <a:xfrm>
            <a:off x="9089136" y="2103120"/>
            <a:ext cx="2578608" cy="4572000"/>
          </a:xfrm>
          <a:prstGeom prst="rect">
            <a:avLst/>
          </a:prstGeom>
          <a:noFill/>
        </p:spPr>
        <p:txBody>
          <a:bodyPr wrap="square">
            <a:spAutoFit/>
          </a:bodyPr>
          <a:lstStyle/>
          <a:p>
            <a:pPr>
              <a:spcBef>
                <a:spcPts val="400"/>
              </a:spcBef>
            </a:pPr>
            <a:r>
              <a:rPr sz="1050" b="1">
                <a:solidFill>
                  <a:srgbClr val="1C1C2E"/>
                </a:solidFill>
              </a:rPr>
              <a:t>▸  Classement par buts</a:t>
            </a:r>
          </a:p>
          <a:p>
            <a:pPr>
              <a:spcBef>
                <a:spcPts val="400"/>
              </a:spcBef>
            </a:pPr>
            <a:r>
              <a:rPr sz="1050" b="1">
                <a:solidFill>
                  <a:srgbClr val="1C1C2E"/>
                </a:solidFill>
              </a:rPr>
              <a:t>▸  Détail passes décisives</a:t>
            </a:r>
          </a:p>
          <a:p>
            <a:pPr>
              <a:spcBef>
                <a:spcPts val="400"/>
              </a:spcBef>
            </a:pPr>
            <a:r>
              <a:rPr sz="1050" b="1">
                <a:solidFill>
                  <a:srgbClr val="1C1C2E"/>
                </a:solidFill>
              </a:rPr>
              <a:t>▸  Pénaltys convertis</a:t>
            </a:r>
          </a:p>
        </p:txBody>
      </p:sp>
      <p:sp>
        <p:nvSpPr>
          <p:cNvPr id="23" name="TextBox 22"/>
          <p:cNvSpPr txBox="1"/>
          <p:nvPr/>
        </p:nvSpPr>
        <p:spPr>
          <a:xfrm>
            <a:off x="457200" y="5989320"/>
            <a:ext cx="11247120" cy="365760"/>
          </a:xfrm>
          <a:prstGeom prst="rect">
            <a:avLst/>
          </a:prstGeom>
          <a:noFill/>
        </p:spPr>
        <p:txBody>
          <a:bodyPr wrap="square">
            <a:spAutoFit/>
          </a:bodyPr>
          <a:lstStyle/>
          <a:p>
            <a:pPr algn="ctr"/>
            <a:r>
              <a:rPr sz="1100" b="0" i="1">
                <a:solidFill>
                  <a:srgbClr val="444466"/>
                </a:solidFill>
              </a:rPr>
              <a:t>Déploiement : streamlit run src/dashboard/app.py  →  http://localhost:8501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64008"/>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640080"/>
          </a:xfrm>
          <a:prstGeom prst="rect">
            <a:avLst/>
          </a:prstGeom>
          <a:noFill/>
        </p:spPr>
        <p:txBody>
          <a:bodyPr wrap="square">
            <a:spAutoFit/>
          </a:bodyPr>
          <a:lstStyle/>
          <a:p>
            <a:pPr algn="l"/>
            <a:r>
              <a:rPr sz="3000" b="1" i="0">
                <a:solidFill>
                  <a:srgbClr val="FFFFFF"/>
                </a:solidFill>
              </a:rPr>
              <a:t>Flux d'Exécution</a:t>
            </a:r>
          </a:p>
        </p:txBody>
      </p:sp>
      <p:sp>
        <p:nvSpPr>
          <p:cNvPr id="6" name="TextBox 5"/>
          <p:cNvSpPr txBox="1"/>
          <p:nvPr/>
        </p:nvSpPr>
        <p:spPr>
          <a:xfrm>
            <a:off x="457200" y="749808"/>
            <a:ext cx="10972800" cy="411480"/>
          </a:xfrm>
          <a:prstGeom prst="rect">
            <a:avLst/>
          </a:prstGeom>
          <a:noFill/>
        </p:spPr>
        <p:txBody>
          <a:bodyPr wrap="square">
            <a:spAutoFit/>
          </a:bodyPr>
          <a:lstStyle/>
          <a:p>
            <a:pPr algn="l"/>
            <a:r>
              <a:rPr sz="1600" b="0" i="0">
                <a:solidFill>
                  <a:srgbClr val="D6E4F7"/>
                </a:solidFill>
              </a:rPr>
              <a:t>Étapes pour déployer et lancer le pipeline</a:t>
            </a:r>
          </a:p>
        </p:txBody>
      </p:sp>
      <p:sp>
        <p:nvSpPr>
          <p:cNvPr id="7" name="Rectangle 6"/>
          <p:cNvSpPr/>
          <p:nvPr/>
        </p:nvSpPr>
        <p:spPr>
          <a:xfrm>
            <a:off x="457200" y="1600200"/>
            <a:ext cx="2145182"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600200"/>
            <a:ext cx="2145182" cy="457200"/>
          </a:xfrm>
          <a:prstGeom prst="rect">
            <a:avLst/>
          </a:prstGeom>
          <a:solidFill>
            <a:srgbClr val="2E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673352"/>
            <a:ext cx="2053742" cy="347472"/>
          </a:xfrm>
          <a:prstGeom prst="rect">
            <a:avLst/>
          </a:prstGeom>
          <a:noFill/>
        </p:spPr>
        <p:txBody>
          <a:bodyPr wrap="square">
            <a:spAutoFit/>
          </a:bodyPr>
          <a:lstStyle/>
          <a:p>
            <a:pPr algn="l"/>
            <a:r>
              <a:rPr sz="1200" b="1" i="0">
                <a:solidFill>
                  <a:srgbClr val="FFFFFF"/>
                </a:solidFill>
              </a:rPr>
              <a:t>Étape 1</a:t>
            </a:r>
          </a:p>
        </p:txBody>
      </p:sp>
      <p:sp>
        <p:nvSpPr>
          <p:cNvPr id="10" name="TextBox 9"/>
          <p:cNvSpPr txBox="1"/>
          <p:nvPr/>
        </p:nvSpPr>
        <p:spPr>
          <a:xfrm>
            <a:off x="548640" y="2148840"/>
            <a:ext cx="2008022" cy="411480"/>
          </a:xfrm>
          <a:prstGeom prst="rect">
            <a:avLst/>
          </a:prstGeom>
          <a:noFill/>
        </p:spPr>
        <p:txBody>
          <a:bodyPr wrap="square">
            <a:spAutoFit/>
          </a:bodyPr>
          <a:lstStyle/>
          <a:p>
            <a:pPr algn="l"/>
            <a:r>
              <a:rPr sz="1300" b="1" i="0">
                <a:solidFill>
                  <a:srgbClr val="2E5F9E"/>
                </a:solidFill>
              </a:rPr>
              <a:t>Setup</a:t>
            </a:r>
          </a:p>
        </p:txBody>
      </p:sp>
      <p:sp>
        <p:nvSpPr>
          <p:cNvPr id="11" name="TextBox 10"/>
          <p:cNvSpPr txBox="1"/>
          <p:nvPr/>
        </p:nvSpPr>
        <p:spPr>
          <a:xfrm>
            <a:off x="548640" y="2606040"/>
            <a:ext cx="2008022" cy="1645920"/>
          </a:xfrm>
          <a:prstGeom prst="rect">
            <a:avLst/>
          </a:prstGeom>
          <a:noFill/>
        </p:spPr>
        <p:txBody>
          <a:bodyPr wrap="square">
            <a:spAutoFit/>
          </a:bodyPr>
          <a:lstStyle/>
          <a:p>
            <a:pPr algn="l"/>
            <a:r>
              <a:rPr sz="1000" b="0" i="1">
                <a:solidFill>
                  <a:srgbClr val="1C1C2E"/>
                </a:solidFill>
              </a:rPr>
              <a:t>python -m venv venv
pip install -r requirements.txt</a:t>
            </a:r>
          </a:p>
        </p:txBody>
      </p:sp>
      <p:sp>
        <p:nvSpPr>
          <p:cNvPr id="12" name="Rectangle 11"/>
          <p:cNvSpPr/>
          <p:nvPr/>
        </p:nvSpPr>
        <p:spPr>
          <a:xfrm>
            <a:off x="2602382" y="3282696"/>
            <a:ext cx="137160" cy="109728"/>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39542" y="1600200"/>
            <a:ext cx="2145182"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39542" y="1600200"/>
            <a:ext cx="2145182" cy="457200"/>
          </a:xfrm>
          <a:prstGeom prst="rect">
            <a:avLst/>
          </a:prstGeom>
          <a:solidFill>
            <a:srgbClr val="099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12694" y="1673352"/>
            <a:ext cx="2053742" cy="347472"/>
          </a:xfrm>
          <a:prstGeom prst="rect">
            <a:avLst/>
          </a:prstGeom>
          <a:noFill/>
        </p:spPr>
        <p:txBody>
          <a:bodyPr wrap="square">
            <a:spAutoFit/>
          </a:bodyPr>
          <a:lstStyle/>
          <a:p>
            <a:pPr algn="l"/>
            <a:r>
              <a:rPr sz="1200" b="1" i="0">
                <a:solidFill>
                  <a:srgbClr val="FFFFFF"/>
                </a:solidFill>
              </a:rPr>
              <a:t>Étape 2</a:t>
            </a:r>
          </a:p>
        </p:txBody>
      </p:sp>
      <p:sp>
        <p:nvSpPr>
          <p:cNvPr id="16" name="TextBox 15"/>
          <p:cNvSpPr txBox="1"/>
          <p:nvPr/>
        </p:nvSpPr>
        <p:spPr>
          <a:xfrm>
            <a:off x="2830982" y="2148840"/>
            <a:ext cx="2008022" cy="411480"/>
          </a:xfrm>
          <a:prstGeom prst="rect">
            <a:avLst/>
          </a:prstGeom>
          <a:noFill/>
        </p:spPr>
        <p:txBody>
          <a:bodyPr wrap="square">
            <a:spAutoFit/>
          </a:bodyPr>
          <a:lstStyle/>
          <a:p>
            <a:pPr algn="l"/>
            <a:r>
              <a:rPr sz="1300" b="1" i="0">
                <a:solidFill>
                  <a:srgbClr val="099CEC"/>
                </a:solidFill>
              </a:rPr>
              <a:t>Infrastructure</a:t>
            </a:r>
          </a:p>
        </p:txBody>
      </p:sp>
      <p:sp>
        <p:nvSpPr>
          <p:cNvPr id="17" name="TextBox 16"/>
          <p:cNvSpPr txBox="1"/>
          <p:nvPr/>
        </p:nvSpPr>
        <p:spPr>
          <a:xfrm>
            <a:off x="2830982" y="2606040"/>
            <a:ext cx="2008022" cy="1645920"/>
          </a:xfrm>
          <a:prstGeom prst="rect">
            <a:avLst/>
          </a:prstGeom>
          <a:noFill/>
        </p:spPr>
        <p:txBody>
          <a:bodyPr wrap="square">
            <a:spAutoFit/>
          </a:bodyPr>
          <a:lstStyle/>
          <a:p>
            <a:pPr algn="l"/>
            <a:r>
              <a:rPr sz="1000" b="0" i="1">
                <a:solidFill>
                  <a:srgbClr val="1C1C2E"/>
                </a:solidFill>
              </a:rPr>
              <a:t>docker compose up -d
(Kafka, Spark, HDFS, PostgreSQL)</a:t>
            </a:r>
          </a:p>
        </p:txBody>
      </p:sp>
      <p:sp>
        <p:nvSpPr>
          <p:cNvPr id="18" name="Rectangle 17"/>
          <p:cNvSpPr/>
          <p:nvPr/>
        </p:nvSpPr>
        <p:spPr>
          <a:xfrm>
            <a:off x="4884724" y="3282696"/>
            <a:ext cx="137160" cy="109728"/>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1884" y="1600200"/>
            <a:ext cx="2145182"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1884" y="1600200"/>
            <a:ext cx="2145182" cy="457200"/>
          </a:xfrm>
          <a:prstGeom prst="rect">
            <a:avLst/>
          </a:prstGeom>
          <a:solidFill>
            <a:srgbClr val="6A4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95036" y="1673352"/>
            <a:ext cx="2053742" cy="347472"/>
          </a:xfrm>
          <a:prstGeom prst="rect">
            <a:avLst/>
          </a:prstGeom>
          <a:noFill/>
        </p:spPr>
        <p:txBody>
          <a:bodyPr wrap="square">
            <a:spAutoFit/>
          </a:bodyPr>
          <a:lstStyle/>
          <a:p>
            <a:pPr algn="l"/>
            <a:r>
              <a:rPr sz="1200" b="1" i="0">
                <a:solidFill>
                  <a:srgbClr val="FFFFFF"/>
                </a:solidFill>
              </a:rPr>
              <a:t>Étape 3</a:t>
            </a:r>
          </a:p>
        </p:txBody>
      </p:sp>
      <p:sp>
        <p:nvSpPr>
          <p:cNvPr id="22" name="TextBox 21"/>
          <p:cNvSpPr txBox="1"/>
          <p:nvPr/>
        </p:nvSpPr>
        <p:spPr>
          <a:xfrm>
            <a:off x="5113324" y="2148840"/>
            <a:ext cx="2008022" cy="411480"/>
          </a:xfrm>
          <a:prstGeom prst="rect">
            <a:avLst/>
          </a:prstGeom>
          <a:noFill/>
        </p:spPr>
        <p:txBody>
          <a:bodyPr wrap="square">
            <a:spAutoFit/>
          </a:bodyPr>
          <a:lstStyle/>
          <a:p>
            <a:pPr algn="l"/>
            <a:r>
              <a:rPr sz="1300" b="1" i="0">
                <a:solidFill>
                  <a:srgbClr val="6A4CBE"/>
                </a:solidFill>
              </a:rPr>
              <a:t>Ingestion</a:t>
            </a:r>
          </a:p>
        </p:txBody>
      </p:sp>
      <p:sp>
        <p:nvSpPr>
          <p:cNvPr id="23" name="TextBox 22"/>
          <p:cNvSpPr txBox="1"/>
          <p:nvPr/>
        </p:nvSpPr>
        <p:spPr>
          <a:xfrm>
            <a:off x="5113324" y="2606040"/>
            <a:ext cx="2008022" cy="1645920"/>
          </a:xfrm>
          <a:prstGeom prst="rect">
            <a:avLst/>
          </a:prstGeom>
          <a:noFill/>
        </p:spPr>
        <p:txBody>
          <a:bodyPr wrap="square">
            <a:spAutoFit/>
          </a:bodyPr>
          <a:lstStyle/>
          <a:p>
            <a:pPr algn="l"/>
            <a:r>
              <a:rPr sz="1000" b="0" i="1">
                <a:solidFill>
                  <a:srgbClr val="1C1C2E"/>
                </a:solidFill>
              </a:rPr>
              <a:t>python src/main.py
→ ~370 messages publiés dans Kafka</a:t>
            </a:r>
          </a:p>
        </p:txBody>
      </p:sp>
      <p:sp>
        <p:nvSpPr>
          <p:cNvPr id="24" name="Rectangle 23"/>
          <p:cNvSpPr/>
          <p:nvPr/>
        </p:nvSpPr>
        <p:spPr>
          <a:xfrm>
            <a:off x="7167067" y="3282696"/>
            <a:ext cx="137160" cy="109728"/>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4227" y="1600200"/>
            <a:ext cx="2145182"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04227" y="1600200"/>
            <a:ext cx="2145182" cy="457200"/>
          </a:xfrm>
          <a:prstGeom prst="rect">
            <a:avLst/>
          </a:prstGeom>
          <a:solidFill>
            <a:srgbClr val="1E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77379" y="1673352"/>
            <a:ext cx="2053742" cy="347472"/>
          </a:xfrm>
          <a:prstGeom prst="rect">
            <a:avLst/>
          </a:prstGeom>
          <a:noFill/>
        </p:spPr>
        <p:txBody>
          <a:bodyPr wrap="square">
            <a:spAutoFit/>
          </a:bodyPr>
          <a:lstStyle/>
          <a:p>
            <a:pPr algn="l"/>
            <a:r>
              <a:rPr sz="1200" b="1" i="0">
                <a:solidFill>
                  <a:srgbClr val="FFFFFF"/>
                </a:solidFill>
              </a:rPr>
              <a:t>Étape 4</a:t>
            </a:r>
          </a:p>
        </p:txBody>
      </p:sp>
      <p:sp>
        <p:nvSpPr>
          <p:cNvPr id="28" name="TextBox 27"/>
          <p:cNvSpPr txBox="1"/>
          <p:nvPr/>
        </p:nvSpPr>
        <p:spPr>
          <a:xfrm>
            <a:off x="7395667" y="2148840"/>
            <a:ext cx="2008022" cy="411480"/>
          </a:xfrm>
          <a:prstGeom prst="rect">
            <a:avLst/>
          </a:prstGeom>
          <a:noFill/>
        </p:spPr>
        <p:txBody>
          <a:bodyPr wrap="square">
            <a:spAutoFit/>
          </a:bodyPr>
          <a:lstStyle/>
          <a:p>
            <a:pPr algn="l"/>
            <a:r>
              <a:rPr sz="1300" b="1" i="0">
                <a:solidFill>
                  <a:srgbClr val="1E7E5C"/>
                </a:solidFill>
              </a:rPr>
              <a:t>ETL Spark</a:t>
            </a:r>
          </a:p>
        </p:txBody>
      </p:sp>
      <p:sp>
        <p:nvSpPr>
          <p:cNvPr id="29" name="TextBox 28"/>
          <p:cNvSpPr txBox="1"/>
          <p:nvPr/>
        </p:nvSpPr>
        <p:spPr>
          <a:xfrm>
            <a:off x="7395667" y="2606040"/>
            <a:ext cx="2008022" cy="1645920"/>
          </a:xfrm>
          <a:prstGeom prst="rect">
            <a:avLst/>
          </a:prstGeom>
          <a:noFill/>
        </p:spPr>
        <p:txBody>
          <a:bodyPr wrap="square">
            <a:spAutoFit/>
          </a:bodyPr>
          <a:lstStyle/>
          <a:p>
            <a:pPr algn="l"/>
            <a:r>
              <a:rPr sz="1000" b="0" i="1">
                <a:solidFill>
                  <a:srgbClr val="1C1C2E"/>
                </a:solidFill>
              </a:rPr>
              <a:t>spark-submit src/spark_job.py
→ HDFS + PostgreSQL chargés</a:t>
            </a:r>
          </a:p>
        </p:txBody>
      </p:sp>
      <p:sp>
        <p:nvSpPr>
          <p:cNvPr id="30" name="Rectangle 29"/>
          <p:cNvSpPr/>
          <p:nvPr/>
        </p:nvSpPr>
        <p:spPr>
          <a:xfrm>
            <a:off x="9449409" y="3282696"/>
            <a:ext cx="137160" cy="109728"/>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86569" y="1600200"/>
            <a:ext cx="2145182"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86569" y="1600200"/>
            <a:ext cx="2145182" cy="457200"/>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59721" y="1673352"/>
            <a:ext cx="2053742" cy="347472"/>
          </a:xfrm>
          <a:prstGeom prst="rect">
            <a:avLst/>
          </a:prstGeom>
          <a:noFill/>
        </p:spPr>
        <p:txBody>
          <a:bodyPr wrap="square">
            <a:spAutoFit/>
          </a:bodyPr>
          <a:lstStyle/>
          <a:p>
            <a:pPr algn="l"/>
            <a:r>
              <a:rPr sz="1200" b="1" i="0">
                <a:solidFill>
                  <a:srgbClr val="FFFFFF"/>
                </a:solidFill>
              </a:rPr>
              <a:t>Étape 5</a:t>
            </a:r>
          </a:p>
        </p:txBody>
      </p:sp>
      <p:sp>
        <p:nvSpPr>
          <p:cNvPr id="34" name="TextBox 33"/>
          <p:cNvSpPr txBox="1"/>
          <p:nvPr/>
        </p:nvSpPr>
        <p:spPr>
          <a:xfrm>
            <a:off x="9678009" y="2148840"/>
            <a:ext cx="2008022" cy="411480"/>
          </a:xfrm>
          <a:prstGeom prst="rect">
            <a:avLst/>
          </a:prstGeom>
          <a:noFill/>
        </p:spPr>
        <p:txBody>
          <a:bodyPr wrap="square">
            <a:spAutoFit/>
          </a:bodyPr>
          <a:lstStyle/>
          <a:p>
            <a:pPr algn="l"/>
            <a:r>
              <a:rPr sz="1300" b="1" i="0">
                <a:solidFill>
                  <a:srgbClr val="E87B1E"/>
                </a:solidFill>
              </a:rPr>
              <a:t>Dashboard</a:t>
            </a:r>
          </a:p>
        </p:txBody>
      </p:sp>
      <p:sp>
        <p:nvSpPr>
          <p:cNvPr id="35" name="TextBox 34"/>
          <p:cNvSpPr txBox="1"/>
          <p:nvPr/>
        </p:nvSpPr>
        <p:spPr>
          <a:xfrm>
            <a:off x="9678009" y="2606040"/>
            <a:ext cx="2008022" cy="1645920"/>
          </a:xfrm>
          <a:prstGeom prst="rect">
            <a:avLst/>
          </a:prstGeom>
          <a:noFill/>
        </p:spPr>
        <p:txBody>
          <a:bodyPr wrap="square">
            <a:spAutoFit/>
          </a:bodyPr>
          <a:lstStyle/>
          <a:p>
            <a:pPr algn="l"/>
            <a:r>
              <a:rPr sz="1000" b="0" i="1">
                <a:solidFill>
                  <a:srgbClr val="1C1C2E"/>
                </a:solidFill>
              </a:rPr>
              <a:t>streamlit run src/dashboard/app.py
→ localhost:8501</a:t>
            </a:r>
          </a:p>
        </p:txBody>
      </p:sp>
      <p:sp>
        <p:nvSpPr>
          <p:cNvPr id="36" name="TextBox 35"/>
          <p:cNvSpPr txBox="1"/>
          <p:nvPr/>
        </p:nvSpPr>
        <p:spPr>
          <a:xfrm>
            <a:off x="457200" y="5852160"/>
            <a:ext cx="11247120" cy="457200"/>
          </a:xfrm>
          <a:prstGeom prst="rect">
            <a:avLst/>
          </a:prstGeom>
          <a:noFill/>
        </p:spPr>
        <p:txBody>
          <a:bodyPr wrap="square">
            <a:spAutoFit/>
          </a:bodyPr>
          <a:lstStyle/>
          <a:p>
            <a:pPr algn="ctr"/>
            <a:r>
              <a:rPr sz="1200" b="0" i="0">
                <a:solidFill>
                  <a:srgbClr val="444466"/>
                </a:solidFill>
              </a:rPr>
              <a:t>⟳  Pipeline idempotent : la déduplication Kafka + le truncate PostgreSQL permettent de relancer sans effets de bord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
            <a:ext cx="10332720" cy="685800"/>
          </a:xfrm>
          <a:prstGeom prst="rect">
            <a:avLst/>
          </a:prstGeom>
          <a:noFill/>
        </p:spPr>
        <p:txBody>
          <a:bodyPr wrap="square">
            <a:spAutoFit/>
          </a:bodyPr>
          <a:lstStyle/>
          <a:p>
            <a:pPr algn="ctr"/>
            <a:r>
              <a:rPr sz="3200" b="1" i="0">
                <a:solidFill>
                  <a:srgbClr val="FFFFFF"/>
                </a:solidFill>
              </a:rPr>
              <a:t>Bilan &amp; Perspectives</a:t>
            </a:r>
          </a:p>
        </p:txBody>
      </p:sp>
      <p:sp>
        <p:nvSpPr>
          <p:cNvPr id="5" name="TextBox 4"/>
          <p:cNvSpPr txBox="1"/>
          <p:nvPr/>
        </p:nvSpPr>
        <p:spPr>
          <a:xfrm>
            <a:off x="548640" y="1371600"/>
            <a:ext cx="5029200" cy="384048"/>
          </a:xfrm>
          <a:prstGeom prst="rect">
            <a:avLst/>
          </a:prstGeom>
          <a:noFill/>
        </p:spPr>
        <p:txBody>
          <a:bodyPr wrap="square">
            <a:spAutoFit/>
          </a:bodyPr>
          <a:lstStyle/>
          <a:p>
            <a:pPr algn="l"/>
            <a:r>
              <a:rPr sz="1600" b="1" i="0">
                <a:solidFill>
                  <a:srgbClr val="E87B1E"/>
                </a:solidFill>
              </a:rPr>
              <a:t>Ce qui a été réalisé</a:t>
            </a:r>
          </a:p>
        </p:txBody>
      </p:sp>
      <p:sp>
        <p:nvSpPr>
          <p:cNvPr id="6" name="TextBox 5"/>
          <p:cNvSpPr txBox="1"/>
          <p:nvPr/>
        </p:nvSpPr>
        <p:spPr>
          <a:xfrm>
            <a:off x="640080" y="1828800"/>
            <a:ext cx="4846320" cy="384048"/>
          </a:xfrm>
          <a:prstGeom prst="rect">
            <a:avLst/>
          </a:prstGeom>
          <a:noFill/>
        </p:spPr>
        <p:txBody>
          <a:bodyPr wrap="square">
            <a:spAutoFit/>
          </a:bodyPr>
          <a:lstStyle/>
          <a:p>
            <a:pPr algn="l"/>
            <a:r>
              <a:rPr sz="1250" b="0" i="0">
                <a:solidFill>
                  <a:srgbClr val="C8E6C9"/>
                </a:solidFill>
              </a:rPr>
              <a:t>✓  Pipeline end-to-end complet</a:t>
            </a:r>
          </a:p>
        </p:txBody>
      </p:sp>
      <p:sp>
        <p:nvSpPr>
          <p:cNvPr id="7" name="TextBox 6"/>
          <p:cNvSpPr txBox="1"/>
          <p:nvPr/>
        </p:nvSpPr>
        <p:spPr>
          <a:xfrm>
            <a:off x="640080" y="2212848"/>
            <a:ext cx="4846320" cy="384048"/>
          </a:xfrm>
          <a:prstGeom prst="rect">
            <a:avLst/>
          </a:prstGeom>
          <a:noFill/>
        </p:spPr>
        <p:txBody>
          <a:bodyPr wrap="square">
            <a:spAutoFit/>
          </a:bodyPr>
          <a:lstStyle/>
          <a:p>
            <a:pPr algn="l"/>
            <a:r>
              <a:rPr sz="1250" b="0" i="0">
                <a:solidFill>
                  <a:srgbClr val="C8E6C9"/>
                </a:solidFill>
              </a:rPr>
              <a:t>✓  Multi-sources : API + scraping</a:t>
            </a:r>
          </a:p>
        </p:txBody>
      </p:sp>
      <p:sp>
        <p:nvSpPr>
          <p:cNvPr id="8" name="TextBox 7"/>
          <p:cNvSpPr txBox="1"/>
          <p:nvPr/>
        </p:nvSpPr>
        <p:spPr>
          <a:xfrm>
            <a:off x="640080" y="2596896"/>
            <a:ext cx="4846320" cy="384048"/>
          </a:xfrm>
          <a:prstGeom prst="rect">
            <a:avLst/>
          </a:prstGeom>
          <a:noFill/>
        </p:spPr>
        <p:txBody>
          <a:bodyPr wrap="square">
            <a:spAutoFit/>
          </a:bodyPr>
          <a:lstStyle/>
          <a:p>
            <a:pPr algn="l"/>
            <a:r>
              <a:rPr sz="1250" b="0" i="0">
                <a:solidFill>
                  <a:srgbClr val="C8E6C9"/>
                </a:solidFill>
              </a:rPr>
              <a:t>✓  Streaming Kafka + ETL Spark distribué</a:t>
            </a:r>
          </a:p>
        </p:txBody>
      </p:sp>
      <p:sp>
        <p:nvSpPr>
          <p:cNvPr id="9" name="TextBox 8"/>
          <p:cNvSpPr txBox="1"/>
          <p:nvPr/>
        </p:nvSpPr>
        <p:spPr>
          <a:xfrm>
            <a:off x="640080" y="2980944"/>
            <a:ext cx="4846320" cy="384048"/>
          </a:xfrm>
          <a:prstGeom prst="rect">
            <a:avLst/>
          </a:prstGeom>
          <a:noFill/>
        </p:spPr>
        <p:txBody>
          <a:bodyPr wrap="square">
            <a:spAutoFit/>
          </a:bodyPr>
          <a:lstStyle/>
          <a:p>
            <a:pPr algn="l"/>
            <a:r>
              <a:rPr sz="1250" b="0" i="0">
                <a:solidFill>
                  <a:srgbClr val="C8E6C9"/>
                </a:solidFill>
              </a:rPr>
              <a:t>✓  Data lake HDFS + Entrepôt PostgreSQL</a:t>
            </a:r>
          </a:p>
        </p:txBody>
      </p:sp>
      <p:sp>
        <p:nvSpPr>
          <p:cNvPr id="10" name="TextBox 9"/>
          <p:cNvSpPr txBox="1"/>
          <p:nvPr/>
        </p:nvSpPr>
        <p:spPr>
          <a:xfrm>
            <a:off x="640080" y="3364992"/>
            <a:ext cx="4846320" cy="384048"/>
          </a:xfrm>
          <a:prstGeom prst="rect">
            <a:avLst/>
          </a:prstGeom>
          <a:noFill/>
        </p:spPr>
        <p:txBody>
          <a:bodyPr wrap="square">
            <a:spAutoFit/>
          </a:bodyPr>
          <a:lstStyle/>
          <a:p>
            <a:pPr algn="l"/>
            <a:r>
              <a:rPr sz="1250" b="0" i="0">
                <a:solidFill>
                  <a:srgbClr val="C8E6C9"/>
                </a:solidFill>
              </a:rPr>
              <a:t>✓  Dashboard interactif 4 pages</a:t>
            </a:r>
          </a:p>
        </p:txBody>
      </p:sp>
      <p:sp>
        <p:nvSpPr>
          <p:cNvPr id="11" name="TextBox 10"/>
          <p:cNvSpPr txBox="1"/>
          <p:nvPr/>
        </p:nvSpPr>
        <p:spPr>
          <a:xfrm>
            <a:off x="640080" y="3749040"/>
            <a:ext cx="4846320" cy="384048"/>
          </a:xfrm>
          <a:prstGeom prst="rect">
            <a:avLst/>
          </a:prstGeom>
          <a:noFill/>
        </p:spPr>
        <p:txBody>
          <a:bodyPr wrap="square">
            <a:spAutoFit/>
          </a:bodyPr>
          <a:lstStyle/>
          <a:p>
            <a:pPr algn="l"/>
            <a:r>
              <a:rPr sz="1250" b="0" i="0">
                <a:solidFill>
                  <a:srgbClr val="C8E6C9"/>
                </a:solidFill>
              </a:rPr>
              <a:t>✓  Containerisé avec Docker (7 services)</a:t>
            </a:r>
          </a:p>
        </p:txBody>
      </p:sp>
      <p:sp>
        <p:nvSpPr>
          <p:cNvPr id="12" name="TextBox 11"/>
          <p:cNvSpPr txBox="1"/>
          <p:nvPr/>
        </p:nvSpPr>
        <p:spPr>
          <a:xfrm>
            <a:off x="640080" y="4133088"/>
            <a:ext cx="4846320" cy="384048"/>
          </a:xfrm>
          <a:prstGeom prst="rect">
            <a:avLst/>
          </a:prstGeom>
          <a:noFill/>
        </p:spPr>
        <p:txBody>
          <a:bodyPr wrap="square">
            <a:spAutoFit/>
          </a:bodyPr>
          <a:lstStyle/>
          <a:p>
            <a:pPr algn="l"/>
            <a:r>
              <a:rPr sz="1250" b="0" i="0">
                <a:solidFill>
                  <a:srgbClr val="C8E6C9"/>
                </a:solidFill>
              </a:rPr>
              <a:t>✓  Pipeline idempotent (re-exécutable)</a:t>
            </a:r>
          </a:p>
        </p:txBody>
      </p:sp>
      <p:sp>
        <p:nvSpPr>
          <p:cNvPr id="13" name="TextBox 12"/>
          <p:cNvSpPr txBox="1"/>
          <p:nvPr/>
        </p:nvSpPr>
        <p:spPr>
          <a:xfrm>
            <a:off x="6400800" y="1371600"/>
            <a:ext cx="5029200" cy="384048"/>
          </a:xfrm>
          <a:prstGeom prst="rect">
            <a:avLst/>
          </a:prstGeom>
          <a:noFill/>
        </p:spPr>
        <p:txBody>
          <a:bodyPr wrap="square">
            <a:spAutoFit/>
          </a:bodyPr>
          <a:lstStyle/>
          <a:p>
            <a:pPr algn="l"/>
            <a:r>
              <a:rPr sz="1600" b="1" i="0">
                <a:solidFill>
                  <a:srgbClr val="D6E4F7"/>
                </a:solidFill>
              </a:rPr>
              <a:t>Pistes d'amélioration</a:t>
            </a:r>
          </a:p>
        </p:txBody>
      </p:sp>
      <p:sp>
        <p:nvSpPr>
          <p:cNvPr id="14" name="TextBox 13"/>
          <p:cNvSpPr txBox="1"/>
          <p:nvPr/>
        </p:nvSpPr>
        <p:spPr>
          <a:xfrm>
            <a:off x="6492240" y="1828800"/>
            <a:ext cx="4846320" cy="384048"/>
          </a:xfrm>
          <a:prstGeom prst="rect">
            <a:avLst/>
          </a:prstGeom>
          <a:noFill/>
        </p:spPr>
        <p:txBody>
          <a:bodyPr wrap="square">
            <a:spAutoFit/>
          </a:bodyPr>
          <a:lstStyle/>
          <a:p>
            <a:pPr algn="l"/>
            <a:r>
              <a:rPr sz="1250" b="0" i="0">
                <a:solidFill>
                  <a:srgbClr val="B0C8E8"/>
                </a:solidFill>
              </a:rPr>
              <a:t>→  Streaming temps réel (scores live)</a:t>
            </a:r>
          </a:p>
        </p:txBody>
      </p:sp>
      <p:sp>
        <p:nvSpPr>
          <p:cNvPr id="15" name="TextBox 14"/>
          <p:cNvSpPr txBox="1"/>
          <p:nvPr/>
        </p:nvSpPr>
        <p:spPr>
          <a:xfrm>
            <a:off x="6492240" y="2212848"/>
            <a:ext cx="4846320" cy="384048"/>
          </a:xfrm>
          <a:prstGeom prst="rect">
            <a:avLst/>
          </a:prstGeom>
          <a:noFill/>
        </p:spPr>
        <p:txBody>
          <a:bodyPr wrap="square">
            <a:spAutoFit/>
          </a:bodyPr>
          <a:lstStyle/>
          <a:p>
            <a:pPr algn="l"/>
            <a:r>
              <a:rPr sz="1250" b="0" i="0">
                <a:solidFill>
                  <a:srgbClr val="B0C8E8"/>
                </a:solidFill>
              </a:rPr>
              <a:t>→  Historique multi-saisons</a:t>
            </a:r>
          </a:p>
        </p:txBody>
      </p:sp>
      <p:sp>
        <p:nvSpPr>
          <p:cNvPr id="16" name="TextBox 15"/>
          <p:cNvSpPr txBox="1"/>
          <p:nvPr/>
        </p:nvSpPr>
        <p:spPr>
          <a:xfrm>
            <a:off x="6492240" y="2596896"/>
            <a:ext cx="4846320" cy="384048"/>
          </a:xfrm>
          <a:prstGeom prst="rect">
            <a:avLst/>
          </a:prstGeom>
          <a:noFill/>
        </p:spPr>
        <p:txBody>
          <a:bodyPr wrap="square">
            <a:spAutoFit/>
          </a:bodyPr>
          <a:lstStyle/>
          <a:p>
            <a:pPr algn="l"/>
            <a:r>
              <a:rPr sz="1250" b="0" i="0">
                <a:solidFill>
                  <a:srgbClr val="B0C8E8"/>
                </a:solidFill>
              </a:rPr>
              <a:t>→  Alertes automatisées (Airflow)</a:t>
            </a:r>
          </a:p>
        </p:txBody>
      </p:sp>
      <p:sp>
        <p:nvSpPr>
          <p:cNvPr id="17" name="TextBox 16"/>
          <p:cNvSpPr txBox="1"/>
          <p:nvPr/>
        </p:nvSpPr>
        <p:spPr>
          <a:xfrm>
            <a:off x="6492240" y="2980944"/>
            <a:ext cx="4846320" cy="384048"/>
          </a:xfrm>
          <a:prstGeom prst="rect">
            <a:avLst/>
          </a:prstGeom>
          <a:noFill/>
        </p:spPr>
        <p:txBody>
          <a:bodyPr wrap="square">
            <a:spAutoFit/>
          </a:bodyPr>
          <a:lstStyle/>
          <a:p>
            <a:pPr algn="l"/>
            <a:r>
              <a:rPr sz="1250" b="0" i="0">
                <a:solidFill>
                  <a:srgbClr val="B0C8E8"/>
                </a:solidFill>
              </a:rPr>
              <a:t>→  Authentification dashboard</a:t>
            </a:r>
          </a:p>
        </p:txBody>
      </p:sp>
      <p:sp>
        <p:nvSpPr>
          <p:cNvPr id="18" name="TextBox 17"/>
          <p:cNvSpPr txBox="1"/>
          <p:nvPr/>
        </p:nvSpPr>
        <p:spPr>
          <a:xfrm>
            <a:off x="6492240" y="3364992"/>
            <a:ext cx="4846320" cy="384048"/>
          </a:xfrm>
          <a:prstGeom prst="rect">
            <a:avLst/>
          </a:prstGeom>
          <a:noFill/>
        </p:spPr>
        <p:txBody>
          <a:bodyPr wrap="square">
            <a:spAutoFit/>
          </a:bodyPr>
          <a:lstStyle/>
          <a:p>
            <a:pPr algn="l"/>
            <a:r>
              <a:rPr sz="1250" b="0" i="0">
                <a:solidFill>
                  <a:srgbClr val="B0C8E8"/>
                </a:solidFill>
              </a:rPr>
              <a:t>→  Tests unitaires &amp; intégration</a:t>
            </a:r>
          </a:p>
        </p:txBody>
      </p:sp>
      <p:sp>
        <p:nvSpPr>
          <p:cNvPr id="19" name="TextBox 18"/>
          <p:cNvSpPr txBox="1"/>
          <p:nvPr/>
        </p:nvSpPr>
        <p:spPr>
          <a:xfrm>
            <a:off x="6492240" y="3749040"/>
            <a:ext cx="4846320" cy="384048"/>
          </a:xfrm>
          <a:prstGeom prst="rect">
            <a:avLst/>
          </a:prstGeom>
          <a:noFill/>
        </p:spPr>
        <p:txBody>
          <a:bodyPr wrap="square">
            <a:spAutoFit/>
          </a:bodyPr>
          <a:lstStyle/>
          <a:p>
            <a:pPr algn="l"/>
            <a:r>
              <a:rPr sz="1250" b="0" i="0">
                <a:solidFill>
                  <a:srgbClr val="B0C8E8"/>
                </a:solidFill>
              </a:rPr>
              <a:t>→  Déploiement cloud (GCP / AWS)</a:t>
            </a:r>
          </a:p>
        </p:txBody>
      </p:sp>
      <p:sp>
        <p:nvSpPr>
          <p:cNvPr id="20" name="TextBox 19"/>
          <p:cNvSpPr txBox="1"/>
          <p:nvPr/>
        </p:nvSpPr>
        <p:spPr>
          <a:xfrm>
            <a:off x="914400" y="6035040"/>
            <a:ext cx="10332720" cy="548640"/>
          </a:xfrm>
          <a:prstGeom prst="rect">
            <a:avLst/>
          </a:prstGeom>
          <a:noFill/>
        </p:spPr>
        <p:txBody>
          <a:bodyPr wrap="square">
            <a:spAutoFit/>
          </a:bodyPr>
          <a:lstStyle/>
          <a:p>
            <a:pPr algn="ctr"/>
            <a:r>
              <a:rPr sz="2200" b="1" i="0">
                <a:solidFill>
                  <a:srgbClr val="FFFFFF"/>
                </a:solidFill>
              </a:rP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